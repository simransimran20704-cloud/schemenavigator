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1155680" cy="8686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0F2C4C"/>
                </a:solidFill>
                <a:latin typeface="Calibri"/>
              </a:rPr>
              <a:t>SchemeNavigator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D9488"/>
                </a:solidFill>
                <a:latin typeface="Calibri"/>
              </a:rPr>
              <a:t>Discover. Understand.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1155680" cy="4114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AI-powered navigation for Government Schemes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108960"/>
            <a:ext cx="8869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0F2C4C"/>
                </a:solidFill>
                <a:latin typeface="Calibri"/>
              </a:rPr>
              <a:t>Team [Name]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[Member 1]  •  [Member 2]  •  [Member 3]  •  [Member 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5074920"/>
            <a:ext cx="8869680" cy="64008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Citizen-first  •  Privacy-first  •  Explainable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"/>
            <a:ext cx="11247120" cy="8686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C4C"/>
                </a:solidFill>
                <a:latin typeface="Calibri"/>
              </a:rPr>
              <a:t>India has schemes. Citizens lack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DISCOVER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2C4C"/>
                </a:solidFill>
                <a:latin typeface="Calibri"/>
              </a:rPr>
              <a:t>Don't know which schemes exist.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2880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D9D706"/>
                </a:solidFill>
                <a:latin typeface="Calibri"/>
              </a:rPr>
              <a:t>UNDERSTAND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2C4C"/>
                </a:solidFill>
                <a:latin typeface="Calibri"/>
              </a:rPr>
              <a:t>Eligibility &amp; documents are difficult to decode.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25880"/>
            <a:ext cx="109728" cy="2880360"/>
          </a:xfrm>
          <a:prstGeom prst="rect">
            <a:avLst/>
          </a:prstGeom>
          <a:solidFill>
            <a:srgbClr val="D9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2410C"/>
                </a:solidFill>
                <a:latin typeface="Calibri"/>
              </a:rPr>
              <a:t>TRUST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2C4C"/>
                </a:solidFill>
                <a:latin typeface="Calibri"/>
              </a:rPr>
              <a:t>Hard to identify the genuine application portal.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109728" cy="2880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112471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BE123C"/>
                </a:solidFill>
                <a:latin typeface="Calibri"/>
              </a:rPr>
              <a:t>The Result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F2C4C"/>
                </a:solidFill>
                <a:latin typeface="Calibri"/>
              </a:rPr>
              <a:t>Eligible citizens can miss benefits that already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256032"/>
            <a:ext cx="11338560" cy="685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Calibri"/>
              </a:rPr>
              <a:t>From Citizen Profile → Right Scheme → Right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43000"/>
            <a:ext cx="22128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1. PROFILE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Calibri"/>
              </a:rPr>
              <a:t>Tell us about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43000"/>
            <a:ext cx="2212848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578608" y="2788920"/>
            <a:ext cx="128016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06624" y="1143000"/>
            <a:ext cx="22128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0369A1"/>
                </a:solidFill>
                <a:latin typeface="Calibri"/>
              </a:rPr>
              <a:t>2. MATCH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Calibri"/>
              </a:rPr>
              <a:t>Rule-based scheme matching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1143000"/>
            <a:ext cx="2212848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937760" y="2788920"/>
            <a:ext cx="128016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5776" y="1143000"/>
            <a:ext cx="22128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3. EXPLAIN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Calibri"/>
              </a:rPr>
              <a:t>Why you match + benefits +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143000"/>
            <a:ext cx="2212848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296912" y="2788920"/>
            <a:ext cx="128016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24928" y="1143000"/>
            <a:ext cx="22128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D9D706"/>
                </a:solidFill>
                <a:latin typeface="Calibri"/>
              </a:rPr>
              <a:t>4. ASSIST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Calibri"/>
              </a:rPr>
              <a:t>AI Advisor • Voice • 12+ Languages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1143000"/>
            <a:ext cx="2212848" cy="91440"/>
          </a:xfrm>
          <a:prstGeom prst="rect">
            <a:avLst/>
          </a:prstGeom>
          <a:solidFill>
            <a:srgbClr val="D9D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656064" y="2788920"/>
            <a:ext cx="128016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0" y="1143000"/>
            <a:ext cx="221284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5. ACT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C4C"/>
                </a:solidFill>
                <a:latin typeface="Calibri"/>
              </a:rPr>
              <a:t>Official Portal • Tracker • Kendra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143000"/>
            <a:ext cx="2212848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Rules decide. AI explains.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"/>
            <a:ext cx="11247120" cy="50292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IBM BoB × SchemeNavigator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58368"/>
            <a:ext cx="112471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Calibri"/>
              </a:rPr>
              <a:t>AI-Assisted Development. Human-Controlled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417320"/>
            <a:ext cx="818387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B766C"/>
                </a:solidFill>
                <a:latin typeface="Calibri"/>
              </a:rPr>
              <a:t>UNDERSTAND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Codebase &amp; requirements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221992"/>
            <a:ext cx="201168" cy="146304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2377440"/>
            <a:ext cx="818387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B766C"/>
                </a:solidFill>
                <a:latin typeface="Calibri"/>
              </a:rPr>
              <a:t>PLAN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Break features into tasks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3182112"/>
            <a:ext cx="201168" cy="146304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65960" y="3337560"/>
            <a:ext cx="818387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B766C"/>
                </a:solidFill>
                <a:latin typeface="Calibri"/>
              </a:rPr>
              <a:t>BUILD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Agent-assisted implementation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4142232"/>
            <a:ext cx="201168" cy="146304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65960" y="4297680"/>
            <a:ext cx="818387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B766C"/>
                </a:solidFill>
                <a:latin typeface="Calibri"/>
              </a:rPr>
              <a:t>DEBUG &amp; ITERATE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Test, refine &amp;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578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IBM BoB helped us move from idea → working product.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alibri"/>
              </a:rPr>
              <a:t>Human review &amp; validation at every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"/>
            <a:ext cx="11247120" cy="6858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C4C"/>
                </a:solidFill>
                <a:latin typeface="Calibri"/>
              </a:rPr>
              <a:t>Not another scheme directory.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43000"/>
            <a:ext cx="27889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EXPLAINABLE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Why you match — not just what you 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278892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0128" y="1143000"/>
            <a:ext cx="27889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369A1"/>
                </a:solidFill>
                <a:latin typeface="Calibri"/>
              </a:rPr>
              <a:t>MULTILINGUAL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12+ languages • Voice interaction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143000"/>
            <a:ext cx="2788920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143000"/>
            <a:ext cx="27889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C2410C"/>
                </a:solidFill>
                <a:latin typeface="Calibri"/>
              </a:rPr>
              <a:t>PRIVACY-FIRST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No Aadhaar • No PAN • No OTP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143000"/>
            <a:ext cx="278892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2288" y="1143000"/>
            <a:ext cx="278892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OFFICIAL-FIRST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Apply through official government portals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2288" y="1143000"/>
            <a:ext cx="278892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4617720"/>
            <a:ext cx="113842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0F2C4C"/>
                </a:solidFill>
                <a:latin typeface="Calibri"/>
              </a:rPr>
              <a:t>Digital Navigation + Last-Mile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"/>
            <a:ext cx="112471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C4C"/>
                </a:solidFill>
                <a:latin typeface="Calibri"/>
              </a:rPr>
              <a:t>A Complete Citizen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3,866+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Schemes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12+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Languages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0–100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Explainable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AI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Advisor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Voice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2407" y="1143000"/>
            <a:ext cx="1828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0D9488"/>
                </a:solidFill>
                <a:latin typeface="Calibri"/>
              </a:rPr>
              <a:t>Kendra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75569"/>
                </a:solidFill>
                <a:latin typeface="Calibri"/>
              </a:rPr>
              <a:t>Finder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611880"/>
            <a:ext cx="11384280" cy="233172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Discover → Match → Understand → Apply → Track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Calibri"/>
              </a:rPr>
              <a:t>LIVE PRODUCT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bsite_b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"/>
            <a:ext cx="11247120" cy="64008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2C4C"/>
                </a:solidFill>
                <a:latin typeface="Calibri"/>
              </a:rPr>
              <a:t>Where SchemeNavigator Goes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012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LIVE SCHEME INTELLIGENCE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Automated updates from authoritative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91440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6208" y="96012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369A1"/>
                </a:solidFill>
                <a:latin typeface="Calibri"/>
              </a:rPr>
              <a:t>GOVERNMENT OPPORTUNITIES &amp; EVENTS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Hackathons • Competitions • Fellowships • Government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960120"/>
            <a:ext cx="91440" cy="1920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301752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LAST-MILE SCALE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CSCs • NGOs • Colleges • State Missions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017520"/>
            <a:ext cx="91440" cy="1920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301752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  <a:effectLst>
            <a:outerShdw blurRad="50800" dist="38100" dir="16200000" algn="tl" rotWithShape="0">
              <a:srgbClr val="0F2C4C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C2410C"/>
                </a:solidFill>
                <a:latin typeface="Calibri"/>
              </a:rPr>
              <a:t>SUSTAINABLE REVENUE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C4C"/>
                </a:solidFill>
                <a:latin typeface="Calibri"/>
              </a:rPr>
              <a:t>B2B / White-label • API • CSR • Institutional Support
Citizen access remains 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3017520"/>
            <a:ext cx="91440" cy="1920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5166360"/>
            <a:ext cx="11384280" cy="1005840"/>
          </a:xfrm>
          <a:prstGeom prst="roundRect">
            <a:avLst>
              <a:gd name="adj" fmla="val 8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From Scheme Discovery → Government Opportunity Discovery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SchemeNavigator  ·  Discover. Understand. Apply.                                             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