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~30 seconds</a:t>
            </a:r>
          </a:p>
          <a:p/>
          <a:p>
            <a:r>
              <a:t>Good morning/afternoon everyone. We are Team SchemeNavigator, and this is SchemeNavigator.</a:t>
            </a:r>
          </a:p>
          <a:p/>
          <a:p>
            <a:r>
              <a:t>SchemeNavigator is an AI-powered navigation platform that helps citizens discover government schemes they may be eligible for, understand why they match, and reach the official application portal.</a:t>
            </a:r>
          </a:p>
          <a:p/>
          <a:p>
            <a:r>
              <a:t>Our core idea is simple: Discover. Understand. Apply.</a:t>
            </a:r>
          </a:p>
          <a:p/>
          <a:p>
            <a:r>
              <a:t>And we built it with a rules-first approach, multilingual interaction, and IBM BoB-assisted development.</a:t>
            </a:r>
          </a:p>
          <a:p/>
          <a:p>
            <a:r>
              <a:t>Do not spend more than 30–35 seconds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~45 seconds</a:t>
            </a:r>
          </a:p>
          <a:p/>
          <a:p>
            <a:r>
              <a:t>The problem we identified is not that India doesn’t have welfare schemes.</a:t>
            </a:r>
          </a:p>
          <a:p/>
          <a:p>
            <a:r>
              <a:t>The problem is that citizens struggle to navigate them.</a:t>
            </a:r>
          </a:p>
          <a:p/>
          <a:p>
            <a:r>
              <a:t>There are three major barriers.</a:t>
            </a:r>
          </a:p>
          <a:p/>
          <a:p>
            <a:r>
              <a:t>First, discovery — people don’t know the scheme exists.</a:t>
            </a:r>
          </a:p>
          <a:p/>
          <a:p>
            <a:r>
              <a:t>Second, understanding — even when they find it, they may not understand the eligibility criteria or documents.</a:t>
            </a:r>
          </a:p>
          <a:p/>
          <a:p>
            <a:r>
              <a:t>And third, trust — they need to know where the genuine application actually is.</a:t>
            </a:r>
          </a:p>
          <a:p/>
          <a:p>
            <a:r>
              <a:t>So we asked: What if a citizen didn’t need to know the name of a government scheme before finding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~50 seconds</a:t>
            </a:r>
          </a:p>
          <a:p/>
          <a:p>
            <a:r>
              <a:t>Our solution is designed as a complete citizen journey.</a:t>
            </a:r>
          </a:p>
          <a:p/>
          <a:p>
            <a:r>
              <a:t>First, the citizen tells us who they are.</a:t>
            </a:r>
          </a:p>
          <a:p/>
          <a:p>
            <a:r>
              <a:t>Then our deterministic matching engine identifies relevant schemes.</a:t>
            </a:r>
          </a:p>
          <a:p/>
          <a:p>
            <a:r>
              <a:t>Instead of simply saying ‘you qualify’, we explain why the scheme matches their profile.</a:t>
            </a:r>
          </a:p>
          <a:p/>
          <a:p>
            <a:r>
              <a:t>Our AI advisor helps answer questions in natural language and supports multilingual interaction.</a:t>
            </a:r>
          </a:p>
          <a:p/>
          <a:p>
            <a:r>
              <a:t>And finally, we guide the citizen to the official application portal, with documents, tracking and last-mile Kendra support.</a:t>
            </a:r>
          </a:p>
          <a:p/>
          <a:p>
            <a:r>
              <a:t>Most importantly: Rules decide. AI explains. Citizens decide.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~60–75 seconds  (most rehearsed PPT section)</a:t>
            </a:r>
          </a:p>
          <a:p/>
          <a:p>
            <a:r>
              <a:t>This is where IBM BoB became an important part of our development process.</a:t>
            </a:r>
          </a:p>
          <a:p/>
          <a:p>
            <a:r>
              <a:t>We didn’t use AI simply to generate isolated pieces of code.</a:t>
            </a:r>
          </a:p>
          <a:p/>
          <a:p>
            <a:r>
              <a:t>We used BoB as an agentic development partner across the development lifecycle — understanding the codebase, planning features, implementing changes, debugging and iterating.</a:t>
            </a:r>
          </a:p>
          <a:p/>
          <a:p>
            <a:r>
              <a:t>For example, when we worked on multilingual voice parsing and the Mitra AI advisor, we first gave BoB the context, used it to plan the implementation, then reviewed and validated the changes before integrating them.</a:t>
            </a:r>
          </a:p>
          <a:p/>
          <a:p>
            <a:r>
              <a:t>The important point is that AI assisted our development, but humans remained in control.</a:t>
            </a:r>
          </a:p>
          <a:p/>
          <a:p>
            <a:r>
              <a:t>BoB helped us move faster. We remained responsible for what shipped.</a:t>
            </a:r>
          </a:p>
          <a:p/>
          <a:p>
            <a:r>
              <a:t>DO NOT LIE. If your actual BoB usage was different, change this example. Judges may ask: “Show me exactly what IBM BoB did.” Paste a real screenshot into the evidence panel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~40 seconds</a:t>
            </a:r>
          </a:p>
          <a:p/>
          <a:p>
            <a:r>
              <a:t>We know government scheme directories already exist.</a:t>
            </a:r>
          </a:p>
          <a:p/>
          <a:p>
            <a:r>
              <a:t>So our goal isn’t to build another list of schemes.</a:t>
            </a:r>
          </a:p>
          <a:p/>
          <a:p>
            <a:r>
              <a:t>Our differentiation is personalization and navigation.</a:t>
            </a:r>
          </a:p>
          <a:p/>
          <a:p>
            <a:r>
              <a:t>We explain why a citizen matches.</a:t>
            </a:r>
          </a:p>
          <a:p/>
          <a:p>
            <a:r>
              <a:t>We support natural-language and multilingual interaction.</a:t>
            </a:r>
          </a:p>
          <a:p/>
          <a:p>
            <a:r>
              <a:t>We minimize sensitive data collection.</a:t>
            </a:r>
          </a:p>
          <a:p/>
          <a:p>
            <a:r>
              <a:t>And we guide users towards official application sources instead of intermediaries.</a:t>
            </a:r>
          </a:p>
          <a:p/>
          <a:p>
            <a:r>
              <a:t>And for citizens who still need physical help, we connect them with a Kendra.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~30 seconds, then START THE DEMO</a:t>
            </a:r>
          </a:p>
          <a:p/>
          <a:p>
            <a:r>
              <a:t>This isn’t just a concept or a Figma prototype.</a:t>
            </a:r>
          </a:p>
          <a:p/>
          <a:p>
            <a:r>
              <a:t>We have built the citizen journey end-to-end — from profile creation and scheme matching to AI assistance, official application navigation, tracking and Kendra discovery.</a:t>
            </a:r>
          </a:p>
          <a:p/>
          <a:p>
            <a:r>
              <a:t>And now, instead of showing you more slides, we’d rather show you the product.</a:t>
            </a:r>
          </a:p>
          <a:p/>
          <a:p>
            <a:r>
              <a:t>“Let’s meet our citizen.”</a:t>
            </a:r>
          </a:p>
          <a:p/>
          <a:p>
            <a:r>
              <a:t>DEMO STORY (8 minutes — use all of it)</a:t>
            </a:r>
          </a:p>
          <a:p>
            <a:r>
              <a:t>0:00–1:00  Citizen profile</a:t>
            </a:r>
          </a:p>
          <a:p>
            <a:r>
              <a:t>1:00–2:00  Scheme matching</a:t>
            </a:r>
          </a:p>
          <a:p>
            <a:r>
              <a:t>2:00–3:00  Why this match?</a:t>
            </a:r>
          </a:p>
          <a:p>
            <a:r>
              <a:t>3:00–4:00  AI Advisor</a:t>
            </a:r>
          </a:p>
          <a:p>
            <a:r>
              <a:t>4:00–5:00  Language / Voice</a:t>
            </a:r>
          </a:p>
          <a:p>
            <a:r>
              <a:t>5:00–6:00  Official application</a:t>
            </a:r>
          </a:p>
          <a:p>
            <a:r>
              <a:t>6:00–7:00  Kendra Finder</a:t>
            </a:r>
          </a:p>
          <a:p>
            <a:r>
              <a:t>7:00–8:00  Tracker + complete journey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~12:30–14:15 after the demo</a:t>
            </a:r>
          </a:p>
          <a:p/>
          <a:p>
            <a:r>
              <a:t>Walk four pillars, not a feature laundry list.</a:t>
            </a:r>
          </a:p>
          <a:p/>
          <a:p>
            <a:r>
              <a:t>01 Live scheme intelligence — stay current with government sources.</a:t>
            </a:r>
          </a:p>
          <a:p>
            <a:r>
              <a:t>02 Government opportunities &amp; events — verified only: competitions, fellowships, official events. Not a social feed.</a:t>
            </a:r>
          </a:p>
          <a:p>
            <a:r>
              <a:t>03 Last-mile scale — CSCs, NGOs, colleges, state missions; later white-label/API.</a:t>
            </a:r>
          </a:p>
          <a:p>
            <a:r>
              <a:t>04 Revenue — citizen stays free. B2B, API, CSR, implementation support. If sponsorship exists, it is labelled and cannot influence recommendations.</a:t>
            </a:r>
          </a:p>
          <a:p/>
          <a:p>
            <a:r>
              <a:t>Then close (next slide / or return here):</a:t>
            </a:r>
          </a:p>
          <a:p>
            <a:r>
              <a:t>Schemes are a right. Finding them should not be a skill.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 14:15–15:00  (buffer for Q&amp;A)</a:t>
            </a:r>
          </a:p>
          <a:p/>
          <a:p>
            <a:r>
              <a:t>Schemes are a right. Finding them should not be a skill.</a:t>
            </a:r>
          </a:p>
          <a:p/>
          <a:p>
            <a:r>
              <a:t>SchemeNavigator. Discover. Understand. Apply.</a:t>
            </a:r>
          </a:p>
          <a:p/>
          <a:p>
            <a:r>
              <a:t>Thank you.</a:t>
            </a:r>
          </a:p>
          <a:p/>
          <a:p>
            <a:r>
              <a:t>Keep this slide ready after Future Scope. Do not add extra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92608"/>
            <a:ext cx="3063240" cy="310896"/>
          </a:xfrm>
          <a:prstGeom prst="roundRect">
            <a:avLst>
              <a:gd name="adj" fmla="val 5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000" b="1" i="0">
                <a:solidFill>
                  <a:srgbClr val="FFFFFF"/>
                </a:solidFill>
                <a:latin typeface="Calibri"/>
              </a:rPr>
              <a:t>CITIZEN-FIRST  ·  PRIVACY-FIRST  ·  EXPLAINABLE</a:t>
            </a:r>
          </a:p>
        </p:txBody>
      </p:sp>
      <p:sp>
        <p:nvSpPr>
          <p:cNvPr id="6" name="Rounded Rectangle 5"/>
          <p:cNvSpPr/>
          <p:nvPr/>
        </p:nvSpPr>
        <p:spPr>
          <a:xfrm>
            <a:off x="457200" y="713232"/>
            <a:ext cx="7498079" cy="105156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4400" b="1" i="0">
                <a:solidFill>
                  <a:srgbClr val="0F2C4C"/>
                </a:solidFill>
                <a:latin typeface="Calibri"/>
              </a:rPr>
              <a:t>SchemeNavigator</a:t>
            </a:r>
          </a:p>
        </p:txBody>
      </p:sp>
      <p:sp>
        <p:nvSpPr>
          <p:cNvPr id="7" name="Rounded Rectangle 6"/>
          <p:cNvSpPr/>
          <p:nvPr/>
        </p:nvSpPr>
        <p:spPr>
          <a:xfrm>
            <a:off x="457200" y="1627632"/>
            <a:ext cx="7680960" cy="77724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200" b="0" i="1">
                <a:solidFill>
                  <a:srgbClr val="0D9488"/>
                </a:solidFill>
                <a:latin typeface="Calibri"/>
              </a:rPr>
              <a:t>Discover. Understand. Apply.</a:t>
            </a:r>
          </a:p>
          <a:p>
            <a:pPr algn="l">
              <a:spcAft>
                <a:spcPts val="0"/>
              </a:spcAft>
            </a:pPr>
            <a:r>
              <a:rPr sz="1600" b="0" i="0">
                <a:solidFill>
                  <a:srgbClr val="475569"/>
                </a:solidFill>
                <a:latin typeface="Calibri"/>
              </a:rPr>
              <a:t>AI-powered navigation for government welfare schemes</a:t>
            </a:r>
          </a:p>
        </p:txBody>
      </p:sp>
      <p:sp>
        <p:nvSpPr>
          <p:cNvPr id="8" name="Rounded Rectangle 7"/>
          <p:cNvSpPr/>
          <p:nvPr/>
        </p:nvSpPr>
        <p:spPr>
          <a:xfrm>
            <a:off x="457200" y="2578608"/>
            <a:ext cx="2148840" cy="6583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i="0">
                <a:solidFill>
                  <a:srgbClr val="0F2C4C"/>
                </a:solidFill>
                <a:latin typeface="Calibri"/>
              </a:rPr>
              <a:t>Citizen</a:t>
            </a:r>
          </a:p>
        </p:txBody>
      </p:sp>
      <p:sp>
        <p:nvSpPr>
          <p:cNvPr id="9" name="Right Arrow 8"/>
          <p:cNvSpPr/>
          <p:nvPr/>
        </p:nvSpPr>
        <p:spPr>
          <a:xfrm>
            <a:off x="2670048" y="2779776"/>
            <a:ext cx="594360" cy="256032"/>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0360" y="2578608"/>
            <a:ext cx="2148840" cy="6583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i="0">
                <a:solidFill>
                  <a:srgbClr val="0D9488"/>
                </a:solidFill>
                <a:latin typeface="Calibri"/>
              </a:rPr>
              <a:t>SchemeNavigator</a:t>
            </a:r>
          </a:p>
        </p:txBody>
      </p:sp>
      <p:sp>
        <p:nvSpPr>
          <p:cNvPr id="11" name="Right Arrow 10"/>
          <p:cNvSpPr/>
          <p:nvPr/>
        </p:nvSpPr>
        <p:spPr>
          <a:xfrm>
            <a:off x="5093208" y="2779776"/>
            <a:ext cx="594360" cy="256032"/>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32120" y="2578608"/>
            <a:ext cx="2148840" cy="6583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i="0">
                <a:solidFill>
                  <a:srgbClr val="0369A1"/>
                </a:solidFill>
                <a:latin typeface="Calibri"/>
              </a:rPr>
              <a:t>Govt. Scheme</a:t>
            </a:r>
          </a:p>
        </p:txBody>
      </p:sp>
      <p:sp>
        <p:nvSpPr>
          <p:cNvPr id="13" name="Right Arrow 12"/>
          <p:cNvSpPr/>
          <p:nvPr/>
        </p:nvSpPr>
        <p:spPr>
          <a:xfrm>
            <a:off x="7744967" y="2779776"/>
            <a:ext cx="594360" cy="256032"/>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83879" y="2578608"/>
            <a:ext cx="2148840" cy="6583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i="0">
                <a:solidFill>
                  <a:srgbClr val="C2410C"/>
                </a:solidFill>
                <a:latin typeface="Calibri"/>
              </a:rPr>
              <a:t>Official Portal</a:t>
            </a:r>
          </a:p>
        </p:txBody>
      </p:sp>
      <p:sp>
        <p:nvSpPr>
          <p:cNvPr id="15" name="Rounded Rectangle 14"/>
          <p:cNvSpPr/>
          <p:nvPr/>
        </p:nvSpPr>
        <p:spPr>
          <a:xfrm>
            <a:off x="457200" y="3456432"/>
            <a:ext cx="11247120" cy="23317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800"/>
              </a:spcAft>
            </a:pPr>
            <a:r>
              <a:rPr sz="1600" b="1" i="0">
                <a:solidFill>
                  <a:srgbClr val="0F2C4C"/>
                </a:solidFill>
                <a:latin typeface="Calibri"/>
              </a:rPr>
              <a:t>Team SchemeNavigator</a:t>
            </a:r>
          </a:p>
          <a:p>
            <a:pPr algn="l">
              <a:spcAft>
                <a:spcPts val="0"/>
              </a:spcAft>
            </a:pPr>
            <a:r>
              <a:rPr sz="1100" b="0" i="0">
                <a:solidFill>
                  <a:srgbClr val="64748B"/>
                </a:solidFill>
                <a:latin typeface="Calibri"/>
              </a:rPr>
              <a:t>Replace names before presenting  ·  roles already mapped to the product</a:t>
            </a:r>
          </a:p>
        </p:txBody>
      </p:sp>
      <p:sp>
        <p:nvSpPr>
          <p:cNvPr id="16" name="Rounded Rectangle 15"/>
          <p:cNvSpPr/>
          <p:nvPr/>
        </p:nvSpPr>
        <p:spPr>
          <a:xfrm>
            <a:off x="685800" y="4315968"/>
            <a:ext cx="2560320" cy="1234440"/>
          </a:xfrm>
          <a:prstGeom prst="roundRect">
            <a:avLst>
              <a:gd name="adj" fmla="val 8000"/>
            </a:avLst>
          </a:prstGeom>
          <a:solidFill>
            <a:srgbClr val="F1F5F9"/>
          </a:solidFill>
          <a:ln w="14604">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1400" b="1" i="0">
                <a:solidFill>
                  <a:srgbClr val="0F2C4C"/>
                </a:solidFill>
                <a:latin typeface="Calibri"/>
              </a:rPr>
              <a:t>Member 1</a:t>
            </a:r>
          </a:p>
          <a:p>
            <a:pPr algn="l">
              <a:spcAft>
                <a:spcPts val="0"/>
              </a:spcAft>
            </a:pPr>
            <a:r>
              <a:rPr sz="1200" b="0" i="0">
                <a:solidFill>
                  <a:srgbClr val="475569"/>
                </a:solidFill>
                <a:latin typeface="Calibri"/>
              </a:rPr>
              <a:t>Product &amp; Story</a:t>
            </a:r>
          </a:p>
        </p:txBody>
      </p:sp>
      <p:sp>
        <p:nvSpPr>
          <p:cNvPr id="17" name="Rounded Rectangle 16"/>
          <p:cNvSpPr/>
          <p:nvPr/>
        </p:nvSpPr>
        <p:spPr>
          <a:xfrm>
            <a:off x="3429000" y="4315968"/>
            <a:ext cx="2560320" cy="1234440"/>
          </a:xfrm>
          <a:prstGeom prst="roundRect">
            <a:avLst>
              <a:gd name="adj" fmla="val 8000"/>
            </a:avLst>
          </a:prstGeom>
          <a:solidFill>
            <a:srgbClr val="F1F5F9"/>
          </a:solidFill>
          <a:ln w="14604">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1400" b="1" i="0">
                <a:solidFill>
                  <a:srgbClr val="0F2C4C"/>
                </a:solidFill>
                <a:latin typeface="Calibri"/>
              </a:rPr>
              <a:t>Member 2</a:t>
            </a:r>
          </a:p>
          <a:p>
            <a:pPr algn="l">
              <a:spcAft>
                <a:spcPts val="0"/>
              </a:spcAft>
            </a:pPr>
            <a:r>
              <a:rPr sz="1200" b="0" i="0">
                <a:solidFill>
                  <a:srgbClr val="475569"/>
                </a:solidFill>
                <a:latin typeface="Calibri"/>
              </a:rPr>
              <a:t>Frontend &amp; Voice</a:t>
            </a:r>
          </a:p>
        </p:txBody>
      </p:sp>
      <p:sp>
        <p:nvSpPr>
          <p:cNvPr id="18" name="Rounded Rectangle 17"/>
          <p:cNvSpPr/>
          <p:nvPr/>
        </p:nvSpPr>
        <p:spPr>
          <a:xfrm>
            <a:off x="6172200" y="4315968"/>
            <a:ext cx="2560320" cy="1234440"/>
          </a:xfrm>
          <a:prstGeom prst="roundRect">
            <a:avLst>
              <a:gd name="adj" fmla="val 8000"/>
            </a:avLst>
          </a:prstGeom>
          <a:solidFill>
            <a:srgbClr val="F1F5F9"/>
          </a:solidFill>
          <a:ln w="14604">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1400" b="1" i="0">
                <a:solidFill>
                  <a:srgbClr val="0F2C4C"/>
                </a:solidFill>
                <a:latin typeface="Calibri"/>
              </a:rPr>
              <a:t>Member 3</a:t>
            </a:r>
          </a:p>
          <a:p>
            <a:pPr algn="l">
              <a:spcAft>
                <a:spcPts val="0"/>
              </a:spcAft>
            </a:pPr>
            <a:r>
              <a:rPr sz="1200" b="0" i="0">
                <a:solidFill>
                  <a:srgbClr val="475569"/>
                </a:solidFill>
                <a:latin typeface="Calibri"/>
              </a:rPr>
              <a:t>Backend &amp; AI</a:t>
            </a:r>
          </a:p>
        </p:txBody>
      </p:sp>
      <p:sp>
        <p:nvSpPr>
          <p:cNvPr id="19" name="Rounded Rectangle 18"/>
          <p:cNvSpPr/>
          <p:nvPr/>
        </p:nvSpPr>
        <p:spPr>
          <a:xfrm>
            <a:off x="8915400" y="4315968"/>
            <a:ext cx="2560320" cy="1234440"/>
          </a:xfrm>
          <a:prstGeom prst="roundRect">
            <a:avLst>
              <a:gd name="adj" fmla="val 8000"/>
            </a:avLst>
          </a:prstGeom>
          <a:solidFill>
            <a:srgbClr val="F1F5F9"/>
          </a:solidFill>
          <a:ln w="14604">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1400" b="1" i="0">
                <a:solidFill>
                  <a:srgbClr val="0F2C4C"/>
                </a:solidFill>
                <a:latin typeface="Calibri"/>
              </a:rPr>
              <a:t>Member 4</a:t>
            </a:r>
          </a:p>
          <a:p>
            <a:pPr algn="l">
              <a:spcAft>
                <a:spcPts val="0"/>
              </a:spcAft>
            </a:pPr>
            <a:r>
              <a:rPr sz="1200" b="0" i="0">
                <a:solidFill>
                  <a:srgbClr val="475569"/>
                </a:solidFill>
                <a:latin typeface="Calibri"/>
              </a:rPr>
              <a:t>Data, Kendra &amp; Security</a:t>
            </a:r>
          </a:p>
        </p:txBody>
      </p:sp>
      <p:sp>
        <p:nvSpPr>
          <p:cNvPr id="20" name="Rounded Rectangle 19"/>
          <p:cNvSpPr/>
          <p:nvPr/>
        </p:nvSpPr>
        <p:spPr>
          <a:xfrm>
            <a:off x="457200" y="5943600"/>
            <a:ext cx="11247120" cy="566928"/>
          </a:xfrm>
          <a:prstGeom prst="roundRect">
            <a:avLst>
              <a:gd name="adj" fmla="val 8000"/>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i="0">
                <a:solidFill>
                  <a:srgbClr val="FFFFFF"/>
                </a:solidFill>
                <a:latin typeface="Calibri"/>
              </a:rPr>
              <a:t>A citizen-first  |  privacy-first  |  explainable welfare navigation platform</a:t>
            </a:r>
          </a:p>
        </p:txBody>
      </p:sp>
      <p:sp>
        <p:nvSpPr>
          <p:cNvPr id="21" name="Rectangle 20"/>
          <p:cNvSpPr/>
          <p:nvPr/>
        </p:nvSpPr>
        <p:spPr>
          <a:xfrm>
            <a:off x="0" y="6656832"/>
            <a:ext cx="12191695" cy="20116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900" b="0" i="0">
                <a:solidFill>
                  <a:srgbClr val="FFFFFF"/>
                </a:solidFill>
                <a:latin typeface="Calibri"/>
              </a:rPr>
              <a:t>  SchemeNavigator  ·  Discover. Understand. Apply.                         IBM BoB × 15-min pitch                         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01168"/>
            <a:ext cx="11247120" cy="292608"/>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1100" b="1" i="0">
                <a:solidFill>
                  <a:srgbClr val="BE123C"/>
                </a:solidFill>
                <a:latin typeface="Calibri"/>
              </a:rPr>
              <a:t>THE PROBLEM</a:t>
            </a:r>
          </a:p>
        </p:txBody>
      </p:sp>
      <p:sp>
        <p:nvSpPr>
          <p:cNvPr id="6" name="Rounded Rectangle 5"/>
          <p:cNvSpPr/>
          <p:nvPr/>
        </p:nvSpPr>
        <p:spPr>
          <a:xfrm>
            <a:off x="457200" y="438912"/>
            <a:ext cx="7863840" cy="105156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200"/>
              </a:spcAft>
            </a:pPr>
            <a:r>
              <a:rPr sz="2600" b="1" i="0">
                <a:solidFill>
                  <a:srgbClr val="0F2C4C"/>
                </a:solidFill>
                <a:latin typeface="Calibri"/>
              </a:rPr>
              <a:t>The Problem Isn't Lack of Schemes.</a:t>
            </a:r>
          </a:p>
          <a:p>
            <a:pPr algn="l">
              <a:spcAft>
                <a:spcPts val="0"/>
              </a:spcAft>
            </a:pPr>
            <a:r>
              <a:rPr sz="2600" b="1" i="0">
                <a:solidFill>
                  <a:srgbClr val="BE123C"/>
                </a:solidFill>
                <a:latin typeface="Calibri"/>
              </a:rPr>
              <a:t>It's Lack of Navigation.</a:t>
            </a:r>
          </a:p>
        </p:txBody>
      </p:sp>
      <p:sp>
        <p:nvSpPr>
          <p:cNvPr id="7" name="Rounded Rectangle 6"/>
          <p:cNvSpPr/>
          <p:nvPr/>
        </p:nvSpPr>
        <p:spPr>
          <a:xfrm>
            <a:off x="457200" y="1627632"/>
            <a:ext cx="3611880" cy="27889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0"/>
              </a:spcAft>
            </a:pPr>
            <a:r>
              <a:rPr sz="1200" b="1" i="0">
                <a:solidFill>
                  <a:srgbClr val="0D9488"/>
                </a:solidFill>
                <a:latin typeface="Calibri"/>
              </a:rPr>
              <a:t>01   DISCOVER</a:t>
            </a:r>
          </a:p>
          <a:p>
            <a:pPr algn="l">
              <a:spcAft>
                <a:spcPts val="1000"/>
              </a:spcAft>
            </a:pPr>
            <a:r>
              <a:rPr sz="1600" b="1" i="0">
                <a:solidFill>
                  <a:srgbClr val="0F2C4C"/>
                </a:solidFill>
                <a:latin typeface="Calibri"/>
              </a:rPr>
              <a:t>“I don’t know this scheme exists.”</a:t>
            </a:r>
          </a:p>
          <a:p>
            <a:pPr algn="l">
              <a:spcAft>
                <a:spcPts val="0"/>
              </a:spcAft>
            </a:pPr>
            <a:r>
              <a:rPr sz="1300" b="0" i="0">
                <a:solidFill>
                  <a:srgbClr val="475569"/>
                </a:solidFill>
                <a:latin typeface="Calibri"/>
              </a:rPr>
              <a:t>Thousands of schemes exist, but citizens search with generic terms — scholarship, farmer scheme, housing support.</a:t>
            </a:r>
          </a:p>
        </p:txBody>
      </p:sp>
      <p:sp>
        <p:nvSpPr>
          <p:cNvPr id="8" name="Rectangle 7"/>
          <p:cNvSpPr/>
          <p:nvPr/>
        </p:nvSpPr>
        <p:spPr>
          <a:xfrm>
            <a:off x="457200" y="1627632"/>
            <a:ext cx="109728" cy="2788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97680" y="1627632"/>
            <a:ext cx="3611880" cy="27889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0"/>
              </a:spcAft>
            </a:pPr>
            <a:r>
              <a:rPr sz="1200" b="1" i="0">
                <a:solidFill>
                  <a:srgbClr val="D97706"/>
                </a:solidFill>
                <a:latin typeface="Calibri"/>
              </a:rPr>
              <a:t>02   UNDERSTAND</a:t>
            </a:r>
          </a:p>
          <a:p>
            <a:pPr algn="l">
              <a:spcAft>
                <a:spcPts val="1000"/>
              </a:spcAft>
            </a:pPr>
            <a:r>
              <a:rPr sz="1600" b="1" i="0">
                <a:solidFill>
                  <a:srgbClr val="0F2C4C"/>
                </a:solidFill>
                <a:latin typeface="Calibri"/>
              </a:rPr>
              <a:t>“I don’t know if I qualify.”</a:t>
            </a:r>
          </a:p>
          <a:p>
            <a:pPr algn="l">
              <a:spcAft>
                <a:spcPts val="0"/>
              </a:spcAft>
            </a:pPr>
            <a:r>
              <a:rPr sz="1300" b="0" i="0">
                <a:solidFill>
                  <a:srgbClr val="475569"/>
                </a:solidFill>
                <a:latin typeface="Calibri"/>
              </a:rPr>
              <a:t>Eligibility, documents and government terminology are hard for ordinary citizens to interpret.</a:t>
            </a:r>
          </a:p>
        </p:txBody>
      </p:sp>
      <p:sp>
        <p:nvSpPr>
          <p:cNvPr id="10" name="Rectangle 9"/>
          <p:cNvSpPr/>
          <p:nvPr/>
        </p:nvSpPr>
        <p:spPr>
          <a:xfrm>
            <a:off x="4297680" y="1627632"/>
            <a:ext cx="109728" cy="2788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38160" y="1627632"/>
            <a:ext cx="3611880" cy="27889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0"/>
              </a:spcAft>
            </a:pPr>
            <a:r>
              <a:rPr sz="1200" b="1" i="0">
                <a:solidFill>
                  <a:srgbClr val="C2410C"/>
                </a:solidFill>
                <a:latin typeface="Calibri"/>
              </a:rPr>
              <a:t>03   TRUST</a:t>
            </a:r>
          </a:p>
          <a:p>
            <a:pPr algn="l">
              <a:spcAft>
                <a:spcPts val="1000"/>
              </a:spcAft>
            </a:pPr>
            <a:r>
              <a:rPr sz="1600" b="1" i="0">
                <a:solidFill>
                  <a:srgbClr val="0F2C4C"/>
                </a:solidFill>
                <a:latin typeface="Calibri"/>
              </a:rPr>
              <a:t>“I don’t know which link is real.”</a:t>
            </a:r>
          </a:p>
          <a:p>
            <a:pPr algn="l">
              <a:spcAft>
                <a:spcPts val="0"/>
              </a:spcAft>
            </a:pPr>
            <a:r>
              <a:rPr sz="1300" b="0" i="0">
                <a:solidFill>
                  <a:srgbClr val="475569"/>
                </a:solidFill>
                <a:latin typeface="Calibri"/>
              </a:rPr>
              <a:t>Search results can lead to outdated pages, intermediaries or unofficial sites.</a:t>
            </a:r>
          </a:p>
        </p:txBody>
      </p:sp>
      <p:sp>
        <p:nvSpPr>
          <p:cNvPr id="12" name="Rectangle 11"/>
          <p:cNvSpPr/>
          <p:nvPr/>
        </p:nvSpPr>
        <p:spPr>
          <a:xfrm>
            <a:off x="8138160" y="1627632"/>
            <a:ext cx="109728" cy="278892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4572000"/>
            <a:ext cx="11247120" cy="1207008"/>
          </a:xfrm>
          <a:prstGeom prst="roundRect">
            <a:avLst>
              <a:gd name="adj" fmla="val 8000"/>
            </a:avLst>
          </a:prstGeom>
          <a:solidFill>
            <a:srgbClr val="FFFFFF"/>
          </a:solidFill>
          <a:ln w="14604">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400" b="1" i="0">
                <a:solidFill>
                  <a:srgbClr val="1E293B"/>
                </a:solidFill>
                <a:latin typeface="Calibri"/>
              </a:rPr>
              <a:t>Citizen   →   Which scheme?   ·   Am I eligible?   ·   Which documents?   ·   Which website?   →   Drop-off</a:t>
            </a:r>
          </a:p>
          <a:p>
            <a:pPr algn="ctr">
              <a:spcAft>
                <a:spcPts val="0"/>
              </a:spcAft>
            </a:pPr>
            <a:r>
              <a:rPr sz="1600" b="1" i="0">
                <a:solidFill>
                  <a:srgbClr val="0F2C4C"/>
                </a:solidFill>
                <a:latin typeface="Calibri"/>
              </a:rPr>
              <a:t>Public benefits already exist. The last-mile discovery layer is missing.</a:t>
            </a:r>
          </a:p>
        </p:txBody>
      </p:sp>
      <p:sp>
        <p:nvSpPr>
          <p:cNvPr id="14" name="Rectangle 13"/>
          <p:cNvSpPr/>
          <p:nvPr/>
        </p:nvSpPr>
        <p:spPr>
          <a:xfrm>
            <a:off x="0" y="6656832"/>
            <a:ext cx="12191695" cy="20116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900" b="0" i="0">
                <a:solidFill>
                  <a:srgbClr val="FFFFFF"/>
                </a:solidFill>
                <a:latin typeface="Calibri"/>
              </a:rPr>
              <a:t>  SchemeNavigator  ·  Discover. Understand. Apply.                         IBM BoB × 15-min pitch                         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01168"/>
            <a:ext cx="11247120" cy="256032"/>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1100" b="1" i="0">
                <a:solidFill>
                  <a:srgbClr val="0D9488"/>
                </a:solidFill>
                <a:latin typeface="Calibri"/>
              </a:rPr>
              <a:t>OUR SOLUTION  ·  THE CITIZEN JOURNEY</a:t>
            </a:r>
          </a:p>
        </p:txBody>
      </p:sp>
      <p:sp>
        <p:nvSpPr>
          <p:cNvPr id="6" name="Rounded Rectangle 5"/>
          <p:cNvSpPr/>
          <p:nvPr/>
        </p:nvSpPr>
        <p:spPr>
          <a:xfrm>
            <a:off x="457200" y="438912"/>
            <a:ext cx="11247120" cy="64008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2600" b="1" i="0">
                <a:solidFill>
                  <a:srgbClr val="0F2C4C"/>
                </a:solidFill>
                <a:latin typeface="Calibri"/>
              </a:rPr>
              <a:t>From “I Need Help”  →  “I Know What To Do”</a:t>
            </a:r>
          </a:p>
        </p:txBody>
      </p:sp>
      <p:sp>
        <p:nvSpPr>
          <p:cNvPr id="7" name="Rounded Rectangle 6"/>
          <p:cNvSpPr/>
          <p:nvPr/>
        </p:nvSpPr>
        <p:spPr>
          <a:xfrm>
            <a:off x="384048" y="1280160"/>
            <a:ext cx="2194560" cy="3703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2200" b="1" i="0">
                <a:solidFill>
                  <a:srgbClr val="0D9488"/>
                </a:solidFill>
                <a:latin typeface="Calibri"/>
              </a:rPr>
              <a:t>①</a:t>
            </a:r>
          </a:p>
          <a:p>
            <a:pPr algn="ctr">
              <a:spcAft>
                <a:spcPts val="800"/>
              </a:spcAft>
            </a:pPr>
            <a:r>
              <a:rPr sz="1600" b="1" i="0">
                <a:solidFill>
                  <a:srgbClr val="0F2C4C"/>
                </a:solidFill>
                <a:latin typeface="Calibri"/>
              </a:rPr>
              <a:t>PROFILE</a:t>
            </a:r>
          </a:p>
          <a:p>
            <a:pPr algn="ctr">
              <a:spcAft>
                <a:spcPts val="1000"/>
              </a:spcAft>
            </a:pPr>
            <a:r>
              <a:rPr sz="1300" b="1" i="0">
                <a:solidFill>
                  <a:srgbClr val="1E293B"/>
                </a:solidFill>
                <a:latin typeface="Calibri"/>
              </a:rPr>
              <a:t>Tell us about yourself</a:t>
            </a:r>
          </a:p>
          <a:p>
            <a:pPr algn="ctr">
              <a:spcAft>
                <a:spcPts val="0"/>
              </a:spcAft>
            </a:pPr>
            <a:r>
              <a:rPr sz="1200" b="0" i="0">
                <a:solidFill>
                  <a:srgbClr val="475569"/>
                </a:solidFill>
                <a:latin typeface="Calibri"/>
              </a:rPr>
              <a:t>Age · State · Occupation
Income · Category</a:t>
            </a:r>
          </a:p>
        </p:txBody>
      </p:sp>
      <p:sp>
        <p:nvSpPr>
          <p:cNvPr id="8" name="Rectangle 7"/>
          <p:cNvSpPr/>
          <p:nvPr/>
        </p:nvSpPr>
        <p:spPr>
          <a:xfrm>
            <a:off x="384048" y="1280160"/>
            <a:ext cx="2194560"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2596896" y="2999232"/>
            <a:ext cx="146304" cy="201168"/>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24912" y="1280160"/>
            <a:ext cx="2194560" cy="3703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2200" b="1" i="0">
                <a:solidFill>
                  <a:srgbClr val="0369A1"/>
                </a:solidFill>
                <a:latin typeface="Calibri"/>
              </a:rPr>
              <a:t>②</a:t>
            </a:r>
          </a:p>
          <a:p>
            <a:pPr algn="ctr">
              <a:spcAft>
                <a:spcPts val="800"/>
              </a:spcAft>
            </a:pPr>
            <a:r>
              <a:rPr sz="1600" b="1" i="0">
                <a:solidFill>
                  <a:srgbClr val="0F2C4C"/>
                </a:solidFill>
                <a:latin typeface="Calibri"/>
              </a:rPr>
              <a:t>MATCH</a:t>
            </a:r>
          </a:p>
          <a:p>
            <a:pPr algn="ctr">
              <a:spcAft>
                <a:spcPts val="1000"/>
              </a:spcAft>
            </a:pPr>
            <a:r>
              <a:rPr sz="1300" b="1" i="0">
                <a:solidFill>
                  <a:srgbClr val="1E293B"/>
                </a:solidFill>
                <a:latin typeface="Calibri"/>
              </a:rPr>
              <a:t>Rule-based eligibility</a:t>
            </a:r>
          </a:p>
          <a:p>
            <a:pPr algn="ctr">
              <a:spcAft>
                <a:spcPts val="0"/>
              </a:spcAft>
            </a:pPr>
            <a:r>
              <a:rPr sz="1200" b="0" i="0">
                <a:solidFill>
                  <a:srgbClr val="475569"/>
                </a:solidFill>
                <a:latin typeface="Calibri"/>
              </a:rPr>
              <a:t>Deterministic engine
0–100 Match Score</a:t>
            </a:r>
          </a:p>
        </p:txBody>
      </p:sp>
      <p:sp>
        <p:nvSpPr>
          <p:cNvPr id="11" name="Rectangle 10"/>
          <p:cNvSpPr/>
          <p:nvPr/>
        </p:nvSpPr>
        <p:spPr>
          <a:xfrm>
            <a:off x="2724912" y="1280160"/>
            <a:ext cx="2194560" cy="1097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937760" y="2999232"/>
            <a:ext cx="146304" cy="201168"/>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65776" y="1280160"/>
            <a:ext cx="2194560" cy="3703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2200" b="1" i="0">
                <a:solidFill>
                  <a:srgbClr val="6D28D9"/>
                </a:solidFill>
                <a:latin typeface="Calibri"/>
              </a:rPr>
              <a:t>③</a:t>
            </a:r>
          </a:p>
          <a:p>
            <a:pPr algn="ctr">
              <a:spcAft>
                <a:spcPts val="800"/>
              </a:spcAft>
            </a:pPr>
            <a:r>
              <a:rPr sz="1600" b="1" i="0">
                <a:solidFill>
                  <a:srgbClr val="0F2C4C"/>
                </a:solidFill>
                <a:latin typeface="Calibri"/>
              </a:rPr>
              <a:t>EXPLAIN</a:t>
            </a:r>
          </a:p>
          <a:p>
            <a:pPr algn="ctr">
              <a:spcAft>
                <a:spcPts val="1000"/>
              </a:spcAft>
            </a:pPr>
            <a:r>
              <a:rPr sz="1300" b="1" i="0">
                <a:solidFill>
                  <a:srgbClr val="1E293B"/>
                </a:solidFill>
                <a:latin typeface="Calibri"/>
              </a:rPr>
              <a:t>Why do I match?</a:t>
            </a:r>
          </a:p>
          <a:p>
            <a:pPr algn="ctr">
              <a:spcAft>
                <a:spcPts val="0"/>
              </a:spcAft>
            </a:pPr>
            <a:r>
              <a:rPr sz="1200" b="0" i="0">
                <a:solidFill>
                  <a:srgbClr val="475569"/>
                </a:solidFill>
                <a:latin typeface="Calibri"/>
              </a:rPr>
              <a:t>Benefits · Criteria
Documents</a:t>
            </a:r>
          </a:p>
        </p:txBody>
      </p:sp>
      <p:sp>
        <p:nvSpPr>
          <p:cNvPr id="14" name="Rectangle 13"/>
          <p:cNvSpPr/>
          <p:nvPr/>
        </p:nvSpPr>
        <p:spPr>
          <a:xfrm>
            <a:off x="5065776" y="1280160"/>
            <a:ext cx="2194560" cy="10972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7278624" y="2999232"/>
            <a:ext cx="146304" cy="201168"/>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06640" y="1280160"/>
            <a:ext cx="2194560" cy="3703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2200" b="1" i="0">
                <a:solidFill>
                  <a:srgbClr val="D97706"/>
                </a:solidFill>
                <a:latin typeface="Calibri"/>
              </a:rPr>
              <a:t>④</a:t>
            </a:r>
          </a:p>
          <a:p>
            <a:pPr algn="ctr">
              <a:spcAft>
                <a:spcPts val="800"/>
              </a:spcAft>
            </a:pPr>
            <a:r>
              <a:rPr sz="1600" b="1" i="0">
                <a:solidFill>
                  <a:srgbClr val="0F2C4C"/>
                </a:solidFill>
                <a:latin typeface="Calibri"/>
              </a:rPr>
              <a:t>ASSIST</a:t>
            </a:r>
          </a:p>
          <a:p>
            <a:pPr algn="ctr">
              <a:spcAft>
                <a:spcPts val="1000"/>
              </a:spcAft>
            </a:pPr>
            <a:r>
              <a:rPr sz="1300" b="1" i="0">
                <a:solidFill>
                  <a:srgbClr val="1E293B"/>
                </a:solidFill>
                <a:latin typeface="Calibri"/>
              </a:rPr>
              <a:t>AI Advisor</a:t>
            </a:r>
          </a:p>
          <a:p>
            <a:pPr algn="ctr">
              <a:spcAft>
                <a:spcPts val="0"/>
              </a:spcAft>
            </a:pPr>
            <a:r>
              <a:rPr sz="1200" b="0" i="0">
                <a:solidFill>
                  <a:srgbClr val="475569"/>
                </a:solidFill>
                <a:latin typeface="Calibri"/>
              </a:rPr>
              <a:t>Questions · Language
Voice</a:t>
            </a:r>
          </a:p>
        </p:txBody>
      </p:sp>
      <p:sp>
        <p:nvSpPr>
          <p:cNvPr id="17" name="Rectangle 16"/>
          <p:cNvSpPr/>
          <p:nvPr/>
        </p:nvSpPr>
        <p:spPr>
          <a:xfrm>
            <a:off x="7406640" y="1280160"/>
            <a:ext cx="2194560"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9619488" y="2999232"/>
            <a:ext cx="146304" cy="201168"/>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47504" y="1280160"/>
            <a:ext cx="2194560" cy="3703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2200" b="1" i="0">
                <a:solidFill>
                  <a:srgbClr val="C2410C"/>
                </a:solidFill>
                <a:latin typeface="Calibri"/>
              </a:rPr>
              <a:t>⑤</a:t>
            </a:r>
          </a:p>
          <a:p>
            <a:pPr algn="ctr">
              <a:spcAft>
                <a:spcPts val="800"/>
              </a:spcAft>
            </a:pPr>
            <a:r>
              <a:rPr sz="1600" b="1" i="0">
                <a:solidFill>
                  <a:srgbClr val="0F2C4C"/>
                </a:solidFill>
                <a:latin typeface="Calibri"/>
              </a:rPr>
              <a:t>ACT</a:t>
            </a:r>
          </a:p>
          <a:p>
            <a:pPr algn="ctr">
              <a:spcAft>
                <a:spcPts val="1000"/>
              </a:spcAft>
            </a:pPr>
            <a:r>
              <a:rPr sz="1300" b="1" i="0">
                <a:solidFill>
                  <a:srgbClr val="1E293B"/>
                </a:solidFill>
                <a:latin typeface="Calibri"/>
              </a:rPr>
              <a:t>Official portal</a:t>
            </a:r>
          </a:p>
          <a:p>
            <a:pPr algn="ctr">
              <a:spcAft>
                <a:spcPts val="0"/>
              </a:spcAft>
            </a:pPr>
            <a:r>
              <a:rPr sz="1200" b="0" i="0">
                <a:solidFill>
                  <a:srgbClr val="475569"/>
                </a:solidFill>
                <a:latin typeface="Calibri"/>
              </a:rPr>
              <a:t>Checklist · Tracker
Kendra</a:t>
            </a:r>
          </a:p>
        </p:txBody>
      </p:sp>
      <p:sp>
        <p:nvSpPr>
          <p:cNvPr id="20" name="Rectangle 19"/>
          <p:cNvSpPr/>
          <p:nvPr/>
        </p:nvSpPr>
        <p:spPr>
          <a:xfrm>
            <a:off x="9747504" y="1280160"/>
            <a:ext cx="2194560" cy="1097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7200" y="5166360"/>
            <a:ext cx="11247120" cy="1051560"/>
          </a:xfrm>
          <a:prstGeom prst="roundRect">
            <a:avLst>
              <a:gd name="adj" fmla="val 8000"/>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400" b="1" i="0">
                <a:solidFill>
                  <a:srgbClr val="FFFFFF"/>
                </a:solidFill>
                <a:latin typeface="Calibri"/>
              </a:rPr>
              <a:t>Rules decide.   AI explains.   Citizens decide.</a:t>
            </a:r>
          </a:p>
          <a:p>
            <a:pPr algn="ctr">
              <a:spcAft>
                <a:spcPts val="0"/>
              </a:spcAft>
            </a:pPr>
            <a:r>
              <a:rPr sz="1300" b="0" i="0">
                <a:solidFill>
                  <a:srgbClr val="CBD5E1"/>
                </a:solidFill>
                <a:latin typeface="Calibri"/>
              </a:rPr>
              <a:t>This is the theme of the product — and of this presentation.</a:t>
            </a:r>
          </a:p>
        </p:txBody>
      </p:sp>
      <p:sp>
        <p:nvSpPr>
          <p:cNvPr id="22" name="Rectangle 21"/>
          <p:cNvSpPr/>
          <p:nvPr/>
        </p:nvSpPr>
        <p:spPr>
          <a:xfrm>
            <a:off x="0" y="6656832"/>
            <a:ext cx="12191695" cy="20116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900" b="0" i="0">
                <a:solidFill>
                  <a:srgbClr val="FFFFFF"/>
                </a:solidFill>
                <a:latin typeface="Calibri"/>
              </a:rPr>
              <a:t>  SchemeNavigator  ·  Discover. Understand. Apply.                         IBM BoB × 15-min pitch                         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64592"/>
            <a:ext cx="11247120" cy="237744"/>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1100" b="1" i="0">
                <a:solidFill>
                  <a:srgbClr val="1D4ED8"/>
                </a:solidFill>
                <a:latin typeface="Calibri"/>
              </a:rPr>
              <a:t>IBM  BoB  ×  SCHEMENAVIGATOR   ·   HOW WE BUILT IT</a:t>
            </a:r>
          </a:p>
        </p:txBody>
      </p:sp>
      <p:sp>
        <p:nvSpPr>
          <p:cNvPr id="6" name="Rounded Rectangle 5"/>
          <p:cNvSpPr/>
          <p:nvPr/>
        </p:nvSpPr>
        <p:spPr>
          <a:xfrm>
            <a:off x="457200" y="365760"/>
            <a:ext cx="11247120" cy="566928"/>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2600" b="1" i="0">
                <a:solidFill>
                  <a:srgbClr val="0F2C4C"/>
                </a:solidFill>
                <a:latin typeface="Calibri"/>
              </a:rPr>
              <a:t>From Problem  →  Working Product</a:t>
            </a:r>
          </a:p>
        </p:txBody>
      </p:sp>
      <p:sp>
        <p:nvSpPr>
          <p:cNvPr id="7" name="Rounded Rectangle 6"/>
          <p:cNvSpPr/>
          <p:nvPr/>
        </p:nvSpPr>
        <p:spPr>
          <a:xfrm>
            <a:off x="384048" y="1024128"/>
            <a:ext cx="2148840" cy="530352"/>
          </a:xfrm>
          <a:prstGeom prst="roundRect">
            <a:avLst>
              <a:gd name="adj" fmla="val 8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200" b="1" i="0">
                <a:solidFill>
                  <a:srgbClr val="0B766C"/>
                </a:solidFill>
                <a:latin typeface="Calibri"/>
              </a:rPr>
              <a:t>UNDERSTAND</a:t>
            </a:r>
          </a:p>
        </p:txBody>
      </p:sp>
      <p:sp>
        <p:nvSpPr>
          <p:cNvPr id="8" name="Right Arrow 7"/>
          <p:cNvSpPr/>
          <p:nvPr/>
        </p:nvSpPr>
        <p:spPr>
          <a:xfrm>
            <a:off x="2551176" y="1170432"/>
            <a:ext cx="146304" cy="237744"/>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15768" y="1024128"/>
            <a:ext cx="2148840" cy="530352"/>
          </a:xfrm>
          <a:prstGeom prst="roundRect">
            <a:avLst>
              <a:gd name="adj" fmla="val 8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200" b="1" i="0">
                <a:solidFill>
                  <a:srgbClr val="0B766C"/>
                </a:solidFill>
                <a:latin typeface="Calibri"/>
              </a:rPr>
              <a:t>PLAN</a:t>
            </a:r>
          </a:p>
        </p:txBody>
      </p:sp>
      <p:sp>
        <p:nvSpPr>
          <p:cNvPr id="10" name="Right Arrow 9"/>
          <p:cNvSpPr/>
          <p:nvPr/>
        </p:nvSpPr>
        <p:spPr>
          <a:xfrm>
            <a:off x="4882896" y="1170432"/>
            <a:ext cx="146304" cy="237744"/>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47488" y="1024128"/>
            <a:ext cx="2148840" cy="530352"/>
          </a:xfrm>
          <a:prstGeom prst="roundRect">
            <a:avLst>
              <a:gd name="adj" fmla="val 8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200" b="1" i="0">
                <a:solidFill>
                  <a:srgbClr val="0B766C"/>
                </a:solidFill>
                <a:latin typeface="Calibri"/>
              </a:rPr>
              <a:t>BUILD</a:t>
            </a:r>
          </a:p>
        </p:txBody>
      </p:sp>
      <p:sp>
        <p:nvSpPr>
          <p:cNvPr id="12" name="Right Arrow 11"/>
          <p:cNvSpPr/>
          <p:nvPr/>
        </p:nvSpPr>
        <p:spPr>
          <a:xfrm>
            <a:off x="7214616" y="1170432"/>
            <a:ext cx="146304" cy="237744"/>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79208" y="1024128"/>
            <a:ext cx="2148840" cy="530352"/>
          </a:xfrm>
          <a:prstGeom prst="roundRect">
            <a:avLst>
              <a:gd name="adj" fmla="val 8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200" b="1" i="0">
                <a:solidFill>
                  <a:srgbClr val="0B766C"/>
                </a:solidFill>
                <a:latin typeface="Calibri"/>
              </a:rPr>
              <a:t>DEBUG</a:t>
            </a:r>
          </a:p>
        </p:txBody>
      </p:sp>
      <p:sp>
        <p:nvSpPr>
          <p:cNvPr id="14" name="Right Arrow 13"/>
          <p:cNvSpPr/>
          <p:nvPr/>
        </p:nvSpPr>
        <p:spPr>
          <a:xfrm>
            <a:off x="9546336" y="1170432"/>
            <a:ext cx="146304" cy="237744"/>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10928" y="1024128"/>
            <a:ext cx="2148840" cy="530352"/>
          </a:xfrm>
          <a:prstGeom prst="roundRect">
            <a:avLst>
              <a:gd name="adj" fmla="val 8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200" b="1" i="0">
                <a:solidFill>
                  <a:srgbClr val="0B766C"/>
                </a:solidFill>
                <a:latin typeface="Calibri"/>
              </a:rPr>
              <a:t>ITERATE</a:t>
            </a:r>
          </a:p>
        </p:txBody>
      </p:sp>
      <p:sp>
        <p:nvSpPr>
          <p:cNvPr id="16" name="Rounded Rectangle 15"/>
          <p:cNvSpPr/>
          <p:nvPr/>
        </p:nvSpPr>
        <p:spPr>
          <a:xfrm>
            <a:off x="384048" y="1664208"/>
            <a:ext cx="11384280" cy="384048"/>
          </a:xfrm>
          <a:prstGeom prst="roundRect">
            <a:avLst>
              <a:gd name="adj" fmla="val 8000"/>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i="0">
                <a:solidFill>
                  <a:srgbClr val="FFFFFF"/>
                </a:solidFill>
                <a:latin typeface="Calibri"/>
              </a:rPr>
              <a:t>IBM BoB across the full lifecycle   ·   Ask  →  Plan  →  Agent  →  Human review  →  Iterate</a:t>
            </a:r>
          </a:p>
        </p:txBody>
      </p:sp>
      <p:sp>
        <p:nvSpPr>
          <p:cNvPr id="17" name="Rounded Rectangle 16"/>
          <p:cNvSpPr/>
          <p:nvPr/>
        </p:nvSpPr>
        <p:spPr>
          <a:xfrm>
            <a:off x="384048" y="2194560"/>
            <a:ext cx="2788920" cy="15727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00"/>
              </a:spcAft>
            </a:pPr>
            <a:r>
              <a:rPr sz="1000" b="1" i="0">
                <a:solidFill>
                  <a:srgbClr val="0D9488"/>
                </a:solidFill>
                <a:latin typeface="Calibri"/>
              </a:rPr>
              <a:t>ASK</a:t>
            </a:r>
          </a:p>
          <a:p>
            <a:pPr algn="l">
              <a:spcAft>
                <a:spcPts val="600"/>
              </a:spcAft>
            </a:pPr>
            <a:r>
              <a:rPr sz="1600" b="1" i="0">
                <a:solidFill>
                  <a:srgbClr val="0F2C4C"/>
                </a:solidFill>
                <a:latin typeface="Calibri"/>
              </a:rPr>
              <a:t>Understand</a:t>
            </a:r>
          </a:p>
          <a:p>
            <a:pPr algn="l">
              <a:spcAft>
                <a:spcPts val="0"/>
              </a:spcAft>
            </a:pPr>
            <a:r>
              <a:rPr sz="1200" b="0" i="0">
                <a:solidFill>
                  <a:srgbClr val="475569"/>
                </a:solidFill>
                <a:latin typeface="Calibri"/>
              </a:rPr>
              <a:t>Codebase exploration &amp; context before writing a line of code.</a:t>
            </a:r>
          </a:p>
        </p:txBody>
      </p:sp>
      <p:sp>
        <p:nvSpPr>
          <p:cNvPr id="18" name="Rounded Rectangle 17"/>
          <p:cNvSpPr/>
          <p:nvPr/>
        </p:nvSpPr>
        <p:spPr>
          <a:xfrm>
            <a:off x="3310128" y="2194560"/>
            <a:ext cx="2788920" cy="15727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00"/>
              </a:spcAft>
            </a:pPr>
            <a:r>
              <a:rPr sz="1000" b="1" i="0">
                <a:solidFill>
                  <a:srgbClr val="0D9488"/>
                </a:solidFill>
                <a:latin typeface="Calibri"/>
              </a:rPr>
              <a:t>PLAN</a:t>
            </a:r>
          </a:p>
          <a:p>
            <a:pPr algn="l">
              <a:spcAft>
                <a:spcPts val="600"/>
              </a:spcAft>
            </a:pPr>
            <a:r>
              <a:rPr sz="1600" b="1" i="0">
                <a:solidFill>
                  <a:srgbClr val="0F2C4C"/>
                </a:solidFill>
                <a:latin typeface="Calibri"/>
              </a:rPr>
              <a:t>Plan</a:t>
            </a:r>
          </a:p>
          <a:p>
            <a:pPr algn="l">
              <a:spcAft>
                <a:spcPts val="0"/>
              </a:spcAft>
            </a:pPr>
            <a:r>
              <a:rPr sz="1200" b="0" i="0">
                <a:solidFill>
                  <a:srgbClr val="475569"/>
                </a:solidFill>
                <a:latin typeface="Calibri"/>
              </a:rPr>
              <a:t>Break a feature into implementation tasks and file-level strategy.</a:t>
            </a:r>
          </a:p>
        </p:txBody>
      </p:sp>
      <p:sp>
        <p:nvSpPr>
          <p:cNvPr id="19" name="Rounded Rectangle 18"/>
          <p:cNvSpPr/>
          <p:nvPr/>
        </p:nvSpPr>
        <p:spPr>
          <a:xfrm>
            <a:off x="6236208" y="2194560"/>
            <a:ext cx="2788920" cy="15727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00"/>
              </a:spcAft>
            </a:pPr>
            <a:r>
              <a:rPr sz="1000" b="1" i="0">
                <a:solidFill>
                  <a:srgbClr val="0D9488"/>
                </a:solidFill>
                <a:latin typeface="Calibri"/>
              </a:rPr>
              <a:t>AGENT</a:t>
            </a:r>
          </a:p>
          <a:p>
            <a:pPr algn="l">
              <a:spcAft>
                <a:spcPts val="600"/>
              </a:spcAft>
            </a:pPr>
            <a:r>
              <a:rPr sz="1600" b="1" i="0">
                <a:solidFill>
                  <a:srgbClr val="0F2C4C"/>
                </a:solidFill>
                <a:latin typeface="Calibri"/>
              </a:rPr>
              <a:t>Build</a:t>
            </a:r>
          </a:p>
          <a:p>
            <a:pPr algn="l">
              <a:spcAft>
                <a:spcPts val="0"/>
              </a:spcAft>
            </a:pPr>
            <a:r>
              <a:rPr sz="1200" b="0" i="0">
                <a:solidFill>
                  <a:srgbClr val="475569"/>
                </a:solidFill>
                <a:latin typeface="Calibri"/>
              </a:rPr>
              <a:t>Agent-assisted changes across frontend, backend and matching.</a:t>
            </a:r>
          </a:p>
        </p:txBody>
      </p:sp>
      <p:sp>
        <p:nvSpPr>
          <p:cNvPr id="20" name="Rounded Rectangle 19"/>
          <p:cNvSpPr/>
          <p:nvPr/>
        </p:nvSpPr>
        <p:spPr>
          <a:xfrm>
            <a:off x="9162288" y="2194560"/>
            <a:ext cx="2788920" cy="15727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00"/>
              </a:spcAft>
            </a:pPr>
            <a:r>
              <a:rPr sz="1000" b="1" i="0">
                <a:solidFill>
                  <a:srgbClr val="0D9488"/>
                </a:solidFill>
                <a:latin typeface="Calibri"/>
              </a:rPr>
              <a:t>REVIEW</a:t>
            </a:r>
          </a:p>
          <a:p>
            <a:pPr algn="l">
              <a:spcAft>
                <a:spcPts val="600"/>
              </a:spcAft>
            </a:pPr>
            <a:r>
              <a:rPr sz="1600" b="1" i="0">
                <a:solidFill>
                  <a:srgbClr val="0F2C4C"/>
                </a:solidFill>
                <a:latin typeface="Calibri"/>
              </a:rPr>
              <a:t>Iterate</a:t>
            </a:r>
          </a:p>
          <a:p>
            <a:pPr algn="l">
              <a:spcAft>
                <a:spcPts val="0"/>
              </a:spcAft>
            </a:pPr>
            <a:r>
              <a:rPr sz="1200" b="0" i="0">
                <a:solidFill>
                  <a:srgbClr val="475569"/>
                </a:solidFill>
                <a:latin typeface="Calibri"/>
              </a:rPr>
              <a:t>Humans validate, debug, refine and decide what ships.</a:t>
            </a:r>
          </a:p>
        </p:txBody>
      </p:sp>
      <p:sp>
        <p:nvSpPr>
          <p:cNvPr id="21" name="Rounded Rectangle 20"/>
          <p:cNvSpPr/>
          <p:nvPr/>
        </p:nvSpPr>
        <p:spPr>
          <a:xfrm>
            <a:off x="384048" y="3913632"/>
            <a:ext cx="11384280" cy="2029968"/>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800"/>
              </a:spcAft>
            </a:pPr>
            <a:r>
              <a:rPr sz="1100" b="1" i="0">
                <a:solidFill>
                  <a:srgbClr val="C2410C"/>
                </a:solidFill>
                <a:latin typeface="Calibri"/>
              </a:rPr>
              <a:t>LIVE EVIDENCE  ·  Replace this panel with a screenshot: your BoB prompt  →  BoB plan  →  resulting implementation</a:t>
            </a:r>
          </a:p>
          <a:p>
            <a:pPr algn="l">
              <a:spcAft>
                <a:spcPts val="600"/>
              </a:spcAft>
            </a:pPr>
            <a:r>
              <a:rPr sz="1300" b="1" i="0">
                <a:solidFill>
                  <a:srgbClr val="0F2C4C"/>
                </a:solidFill>
                <a:latin typeface="Calibri"/>
              </a:rPr>
              <a:t>Example (only if true for your build):  “Plan multilingual voice parsing + Mitra advisor, then implement across files.”</a:t>
            </a:r>
          </a:p>
          <a:p>
            <a:pPr algn="l">
              <a:spcAft>
                <a:spcPts val="800"/>
              </a:spcAft>
            </a:pPr>
            <a:r>
              <a:rPr sz="1300" b="0" i="0">
                <a:solidFill>
                  <a:srgbClr val="475569"/>
                </a:solidFill>
                <a:latin typeface="Calibri"/>
              </a:rPr>
              <a:t>BoB drafted the approach  ·  Agent applied multi-file changes  ·  Team reviewed matching, privacy and official-portal links before merge.</a:t>
            </a:r>
          </a:p>
          <a:p>
            <a:pPr algn="l">
              <a:spcAft>
                <a:spcPts val="0"/>
              </a:spcAft>
            </a:pPr>
            <a:r>
              <a:rPr sz="1400" b="1" i="0">
                <a:solidFill>
                  <a:srgbClr val="0B766C"/>
                </a:solidFill>
                <a:latin typeface="Calibri"/>
              </a:rPr>
              <a:t>BoB helped us move faster. We remained responsible for what shipped.</a:t>
            </a:r>
          </a:p>
        </p:txBody>
      </p:sp>
      <p:sp>
        <p:nvSpPr>
          <p:cNvPr id="22" name="Rectangle 21"/>
          <p:cNvSpPr/>
          <p:nvPr/>
        </p:nvSpPr>
        <p:spPr>
          <a:xfrm>
            <a:off x="0" y="6656832"/>
            <a:ext cx="12191695" cy="20116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900" b="0" i="0">
                <a:solidFill>
                  <a:srgbClr val="FFFFFF"/>
                </a:solidFill>
                <a:latin typeface="Calibri"/>
              </a:rPr>
              <a:t>  SchemeNavigator  ·  Discover. Understand. Apply.                         IBM BoB × 15-min pitch                         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82880"/>
            <a:ext cx="11247120" cy="237744"/>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1100" b="1" i="0">
                <a:solidFill>
                  <a:srgbClr val="6D28D9"/>
                </a:solidFill>
                <a:latin typeface="Calibri"/>
              </a:rPr>
              <a:t>WHY SCHEMENAVIGATOR</a:t>
            </a:r>
          </a:p>
        </p:txBody>
      </p:sp>
      <p:sp>
        <p:nvSpPr>
          <p:cNvPr id="6" name="Rounded Rectangle 5"/>
          <p:cNvSpPr/>
          <p:nvPr/>
        </p:nvSpPr>
        <p:spPr>
          <a:xfrm>
            <a:off x="457200" y="384048"/>
            <a:ext cx="11247120" cy="566928"/>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2800" b="1" i="0">
                <a:solidFill>
                  <a:srgbClr val="0F2C4C"/>
                </a:solidFill>
                <a:latin typeface="Calibri"/>
              </a:rPr>
              <a:t>Not Another Scheme Directory</a:t>
            </a:r>
          </a:p>
        </p:txBody>
      </p:sp>
      <p:sp>
        <p:nvSpPr>
          <p:cNvPr id="7" name="Rounded Rectangle 6"/>
          <p:cNvSpPr/>
          <p:nvPr/>
        </p:nvSpPr>
        <p:spPr>
          <a:xfrm>
            <a:off x="384048" y="1143000"/>
            <a:ext cx="2788920" cy="306324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0"/>
              </a:spcAft>
            </a:pPr>
            <a:r>
              <a:rPr sz="1300" b="1" i="0">
                <a:solidFill>
                  <a:srgbClr val="0D9488"/>
                </a:solidFill>
                <a:latin typeface="Calibri"/>
              </a:rPr>
              <a:t>EXPLAINABLE</a:t>
            </a:r>
          </a:p>
          <a:p>
            <a:pPr algn="l">
              <a:spcAft>
                <a:spcPts val="1000"/>
              </a:spcAft>
            </a:pPr>
            <a:r>
              <a:rPr sz="1600" b="1" i="0">
                <a:solidFill>
                  <a:srgbClr val="0F2C4C"/>
                </a:solidFill>
                <a:latin typeface="Calibri"/>
              </a:rPr>
              <a:t>Not just “you match.”</a:t>
            </a:r>
          </a:p>
          <a:p>
            <a:pPr algn="l">
              <a:spcAft>
                <a:spcPts val="0"/>
              </a:spcAft>
            </a:pPr>
            <a:r>
              <a:rPr sz="1300" b="0" i="0">
                <a:solidFill>
                  <a:srgbClr val="475569"/>
                </a:solidFill>
                <a:latin typeface="Calibri"/>
              </a:rPr>
              <a:t>Why you match — criteria, documents, benefits.</a:t>
            </a:r>
          </a:p>
        </p:txBody>
      </p:sp>
      <p:sp>
        <p:nvSpPr>
          <p:cNvPr id="8" name="Rectangle 7"/>
          <p:cNvSpPr/>
          <p:nvPr/>
        </p:nvSpPr>
        <p:spPr>
          <a:xfrm>
            <a:off x="384048" y="1143000"/>
            <a:ext cx="2788920"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10128" y="1143000"/>
            <a:ext cx="2788920" cy="306324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0"/>
              </a:spcAft>
            </a:pPr>
            <a:r>
              <a:rPr sz="1300" b="1" i="0">
                <a:solidFill>
                  <a:srgbClr val="0369A1"/>
                </a:solidFill>
                <a:latin typeface="Calibri"/>
              </a:rPr>
              <a:t>MULTILINGUAL</a:t>
            </a:r>
          </a:p>
          <a:p>
            <a:pPr algn="l">
              <a:spcAft>
                <a:spcPts val="1000"/>
              </a:spcAft>
            </a:pPr>
            <a:r>
              <a:rPr sz="1600" b="1" i="0">
                <a:solidFill>
                  <a:srgbClr val="0F2C4C"/>
                </a:solidFill>
                <a:latin typeface="Calibri"/>
              </a:rPr>
              <a:t>Language should not be a barrier.</a:t>
            </a:r>
          </a:p>
          <a:p>
            <a:pPr algn="l">
              <a:spcAft>
                <a:spcPts val="0"/>
              </a:spcAft>
            </a:pPr>
            <a:r>
              <a:rPr sz="1300" b="0" i="0">
                <a:solidFill>
                  <a:srgbClr val="475569"/>
                </a:solidFill>
                <a:latin typeface="Calibri"/>
              </a:rPr>
              <a:t>12 Indian languages  ·  Text + Voice</a:t>
            </a:r>
          </a:p>
        </p:txBody>
      </p:sp>
      <p:sp>
        <p:nvSpPr>
          <p:cNvPr id="10" name="Rectangle 9"/>
          <p:cNvSpPr/>
          <p:nvPr/>
        </p:nvSpPr>
        <p:spPr>
          <a:xfrm>
            <a:off x="3310128" y="1143000"/>
            <a:ext cx="2788920"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36208" y="1143000"/>
            <a:ext cx="2788920" cy="306324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0"/>
              </a:spcAft>
            </a:pPr>
            <a:r>
              <a:rPr sz="1300" b="1" i="0">
                <a:solidFill>
                  <a:srgbClr val="C2410C"/>
                </a:solidFill>
                <a:latin typeface="Calibri"/>
              </a:rPr>
              <a:t>PRIVACY-FIRST</a:t>
            </a:r>
          </a:p>
          <a:p>
            <a:pPr algn="l">
              <a:spcAft>
                <a:spcPts val="1000"/>
              </a:spcAft>
            </a:pPr>
            <a:r>
              <a:rPr sz="1600" b="1" i="0">
                <a:solidFill>
                  <a:srgbClr val="0F2C4C"/>
                </a:solidFill>
                <a:latin typeface="Calibri"/>
              </a:rPr>
              <a:t>No Aadhaar.  No PAN.  No OTP.</a:t>
            </a:r>
          </a:p>
          <a:p>
            <a:pPr algn="l">
              <a:spcAft>
                <a:spcPts val="0"/>
              </a:spcAft>
            </a:pPr>
            <a:r>
              <a:rPr sz="1300" b="0" i="0">
                <a:solidFill>
                  <a:srgbClr val="475569"/>
                </a:solidFill>
                <a:latin typeface="Calibri"/>
              </a:rPr>
              <a:t>Minimize sensitive data. Citizens stay in control.</a:t>
            </a:r>
          </a:p>
        </p:txBody>
      </p:sp>
      <p:sp>
        <p:nvSpPr>
          <p:cNvPr id="12" name="Rectangle 11"/>
          <p:cNvSpPr/>
          <p:nvPr/>
        </p:nvSpPr>
        <p:spPr>
          <a:xfrm>
            <a:off x="6236208" y="1143000"/>
            <a:ext cx="2788920"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62288" y="1143000"/>
            <a:ext cx="2788920" cy="306324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0"/>
              </a:spcAft>
            </a:pPr>
            <a:r>
              <a:rPr sz="1300" b="1" i="0">
                <a:solidFill>
                  <a:srgbClr val="6D28D9"/>
                </a:solidFill>
                <a:latin typeface="Calibri"/>
              </a:rPr>
              <a:t>OFFICIAL-FIRST</a:t>
            </a:r>
          </a:p>
          <a:p>
            <a:pPr algn="l">
              <a:spcAft>
                <a:spcPts val="1000"/>
              </a:spcAft>
            </a:pPr>
            <a:r>
              <a:rPr sz="1600" b="1" i="0">
                <a:solidFill>
                  <a:srgbClr val="0F2C4C"/>
                </a:solidFill>
                <a:latin typeface="Calibri"/>
              </a:rPr>
              <a:t>No middlemen.</a:t>
            </a:r>
          </a:p>
          <a:p>
            <a:pPr algn="l">
              <a:spcAft>
                <a:spcPts val="0"/>
              </a:spcAft>
            </a:pPr>
            <a:r>
              <a:rPr sz="1300" b="0" i="0">
                <a:solidFill>
                  <a:srgbClr val="475569"/>
                </a:solidFill>
                <a:latin typeface="Calibri"/>
              </a:rPr>
              <a:t>Guide to official application portals only.</a:t>
            </a:r>
          </a:p>
        </p:txBody>
      </p:sp>
      <p:sp>
        <p:nvSpPr>
          <p:cNvPr id="14" name="Rectangle 13"/>
          <p:cNvSpPr/>
          <p:nvPr/>
        </p:nvSpPr>
        <p:spPr>
          <a:xfrm>
            <a:off x="9162288" y="1143000"/>
            <a:ext cx="2788920" cy="914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84048" y="4407408"/>
            <a:ext cx="11384280" cy="178308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800"/>
              </a:spcAft>
            </a:pPr>
            <a:r>
              <a:rPr sz="1800" b="1" i="0">
                <a:solidFill>
                  <a:srgbClr val="0F2C4C"/>
                </a:solidFill>
                <a:latin typeface="Calibri"/>
              </a:rPr>
              <a:t>Digital navigation  +  physical last-mile support</a:t>
            </a:r>
          </a:p>
          <a:p>
            <a:pPr algn="l">
              <a:spcAft>
                <a:spcPts val="1000"/>
              </a:spcAft>
            </a:pPr>
            <a:r>
              <a:rPr sz="1400" b="0" i="0">
                <a:solidFill>
                  <a:srgbClr val="475569"/>
                </a:solidFill>
                <a:latin typeface="Calibri"/>
              </a:rPr>
              <a:t>Kendra Finder  ·  CSC  ·  Aadhaar Seva  ·  Jan Aushadhi  ·  Post Office  ·  KVK  ·  PMKK  ·  e-District</a:t>
            </a:r>
          </a:p>
          <a:p>
            <a:pPr algn="l">
              <a:spcAft>
                <a:spcPts val="0"/>
              </a:spcAft>
            </a:pPr>
            <a:r>
              <a:rPr sz="1400" b="1" i="0">
                <a:solidFill>
                  <a:srgbClr val="0B766C"/>
                </a:solidFill>
                <a:latin typeface="Calibri"/>
              </a:rPr>
              <a:t>Personalization and navigation — not another list of schemes.</a:t>
            </a:r>
          </a:p>
        </p:txBody>
      </p:sp>
      <p:sp>
        <p:nvSpPr>
          <p:cNvPr id="16" name="Rectangle 15"/>
          <p:cNvSpPr/>
          <p:nvPr/>
        </p:nvSpPr>
        <p:spPr>
          <a:xfrm>
            <a:off x="0" y="6656832"/>
            <a:ext cx="12191695" cy="20116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900" b="0" i="0">
                <a:solidFill>
                  <a:srgbClr val="FFFFFF"/>
                </a:solidFill>
                <a:latin typeface="Calibri"/>
              </a:rPr>
              <a:t>  SchemeNavigator  ·  Discover. Understand. Apply.                         IBM BoB × 15-min pitch                         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82880"/>
            <a:ext cx="9144000" cy="237744"/>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1100" b="1" i="0">
                <a:solidFill>
                  <a:srgbClr val="0D9488"/>
                </a:solidFill>
                <a:latin typeface="Calibri"/>
              </a:rPr>
              <a:t>WHAT WE ACTUALLY BUILT</a:t>
            </a:r>
          </a:p>
        </p:txBody>
      </p:sp>
      <p:sp>
        <p:nvSpPr>
          <p:cNvPr id="6" name="Rounded Rectangle 5"/>
          <p:cNvSpPr/>
          <p:nvPr/>
        </p:nvSpPr>
        <p:spPr>
          <a:xfrm>
            <a:off x="9646920" y="201168"/>
            <a:ext cx="2057400" cy="329184"/>
          </a:xfrm>
          <a:prstGeom prst="roundRect">
            <a:avLst>
              <a:gd name="adj" fmla="val 5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100" b="1" i="0">
                <a:solidFill>
                  <a:srgbClr val="FFFFFF"/>
                </a:solidFill>
                <a:latin typeface="Calibri"/>
              </a:rPr>
              <a:t>LIVE PRODUCT</a:t>
            </a:r>
          </a:p>
        </p:txBody>
      </p:sp>
      <p:sp>
        <p:nvSpPr>
          <p:cNvPr id="7" name="Rounded Rectangle 6"/>
          <p:cNvSpPr/>
          <p:nvPr/>
        </p:nvSpPr>
        <p:spPr>
          <a:xfrm>
            <a:off x="457200" y="438912"/>
            <a:ext cx="11247120" cy="530352"/>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2800" b="1" i="0">
                <a:solidFill>
                  <a:srgbClr val="0F2C4C"/>
                </a:solidFill>
                <a:latin typeface="Calibri"/>
              </a:rPr>
              <a:t>From Idea to Working Product</a:t>
            </a:r>
          </a:p>
        </p:txBody>
      </p:sp>
      <p:sp>
        <p:nvSpPr>
          <p:cNvPr id="8" name="Rounded Rectangle 7"/>
          <p:cNvSpPr/>
          <p:nvPr/>
        </p:nvSpPr>
        <p:spPr>
          <a:xfrm>
            <a:off x="384048" y="1115568"/>
            <a:ext cx="1828800" cy="1417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800" b="1" i="0">
                <a:solidFill>
                  <a:srgbClr val="0D9488"/>
                </a:solidFill>
                <a:latin typeface="Calibri"/>
              </a:rPr>
              <a:t>3,866+</a:t>
            </a:r>
          </a:p>
          <a:p>
            <a:pPr algn="ctr">
              <a:spcAft>
                <a:spcPts val="0"/>
              </a:spcAft>
            </a:pPr>
            <a:r>
              <a:rPr sz="1200" b="0" i="0">
                <a:solidFill>
                  <a:srgbClr val="475569"/>
                </a:solidFill>
                <a:latin typeface="Calibri"/>
              </a:rPr>
              <a:t>Schemes</a:t>
            </a:r>
          </a:p>
        </p:txBody>
      </p:sp>
      <p:sp>
        <p:nvSpPr>
          <p:cNvPr id="9" name="Rounded Rectangle 8"/>
          <p:cNvSpPr/>
          <p:nvPr/>
        </p:nvSpPr>
        <p:spPr>
          <a:xfrm>
            <a:off x="2331720" y="1115568"/>
            <a:ext cx="1828800" cy="1417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800" b="1" i="0">
                <a:solidFill>
                  <a:srgbClr val="0D9488"/>
                </a:solidFill>
                <a:latin typeface="Calibri"/>
              </a:rPr>
              <a:t>12+</a:t>
            </a:r>
          </a:p>
          <a:p>
            <a:pPr algn="ctr">
              <a:spcAft>
                <a:spcPts val="0"/>
              </a:spcAft>
            </a:pPr>
            <a:r>
              <a:rPr sz="1200" b="0" i="0">
                <a:solidFill>
                  <a:srgbClr val="475569"/>
                </a:solidFill>
                <a:latin typeface="Calibri"/>
              </a:rPr>
              <a:t>Languages</a:t>
            </a:r>
          </a:p>
        </p:txBody>
      </p:sp>
      <p:sp>
        <p:nvSpPr>
          <p:cNvPr id="10" name="Rounded Rectangle 9"/>
          <p:cNvSpPr/>
          <p:nvPr/>
        </p:nvSpPr>
        <p:spPr>
          <a:xfrm>
            <a:off x="4279392" y="1115568"/>
            <a:ext cx="1828800" cy="1417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800" b="1" i="0">
                <a:solidFill>
                  <a:srgbClr val="0D9488"/>
                </a:solidFill>
                <a:latin typeface="Calibri"/>
              </a:rPr>
              <a:t>Explainable</a:t>
            </a:r>
          </a:p>
          <a:p>
            <a:pPr algn="ctr">
              <a:spcAft>
                <a:spcPts val="0"/>
              </a:spcAft>
            </a:pPr>
            <a:r>
              <a:rPr sz="1200" b="0" i="0">
                <a:solidFill>
                  <a:srgbClr val="475569"/>
                </a:solidFill>
                <a:latin typeface="Calibri"/>
              </a:rPr>
              <a:t>Matching</a:t>
            </a:r>
          </a:p>
        </p:txBody>
      </p:sp>
      <p:sp>
        <p:nvSpPr>
          <p:cNvPr id="11" name="Rounded Rectangle 10"/>
          <p:cNvSpPr/>
          <p:nvPr/>
        </p:nvSpPr>
        <p:spPr>
          <a:xfrm>
            <a:off x="6227064" y="1115568"/>
            <a:ext cx="1828800" cy="1417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800" b="1" i="0">
                <a:solidFill>
                  <a:srgbClr val="0D9488"/>
                </a:solidFill>
                <a:latin typeface="Calibri"/>
              </a:rPr>
              <a:t>AI</a:t>
            </a:r>
          </a:p>
          <a:p>
            <a:pPr algn="ctr">
              <a:spcAft>
                <a:spcPts val="0"/>
              </a:spcAft>
            </a:pPr>
            <a:r>
              <a:rPr sz="1200" b="0" i="0">
                <a:solidFill>
                  <a:srgbClr val="475569"/>
                </a:solidFill>
                <a:latin typeface="Calibri"/>
              </a:rPr>
              <a:t>Advisor</a:t>
            </a:r>
          </a:p>
        </p:txBody>
      </p:sp>
      <p:sp>
        <p:nvSpPr>
          <p:cNvPr id="12" name="Rounded Rectangle 11"/>
          <p:cNvSpPr/>
          <p:nvPr/>
        </p:nvSpPr>
        <p:spPr>
          <a:xfrm>
            <a:off x="8174736" y="1115568"/>
            <a:ext cx="1828800" cy="1417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800" b="1" i="0">
                <a:solidFill>
                  <a:srgbClr val="0D9488"/>
                </a:solidFill>
                <a:latin typeface="Calibri"/>
              </a:rPr>
              <a:t>Voice</a:t>
            </a:r>
          </a:p>
          <a:p>
            <a:pPr algn="ctr">
              <a:spcAft>
                <a:spcPts val="0"/>
              </a:spcAft>
            </a:pPr>
            <a:r>
              <a:rPr sz="1200" b="0" i="0">
                <a:solidFill>
                  <a:srgbClr val="475569"/>
                </a:solidFill>
                <a:latin typeface="Calibri"/>
              </a:rPr>
              <a:t>Interaction</a:t>
            </a:r>
          </a:p>
        </p:txBody>
      </p:sp>
      <p:sp>
        <p:nvSpPr>
          <p:cNvPr id="13" name="Rounded Rectangle 12"/>
          <p:cNvSpPr/>
          <p:nvPr/>
        </p:nvSpPr>
        <p:spPr>
          <a:xfrm>
            <a:off x="10122407" y="1115568"/>
            <a:ext cx="1828800" cy="141732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800" b="1" i="0">
                <a:solidFill>
                  <a:srgbClr val="0D9488"/>
                </a:solidFill>
                <a:latin typeface="Calibri"/>
              </a:rPr>
              <a:t>Kendra</a:t>
            </a:r>
          </a:p>
          <a:p>
            <a:pPr algn="ctr">
              <a:spcAft>
                <a:spcPts val="0"/>
              </a:spcAft>
            </a:pPr>
            <a:r>
              <a:rPr sz="1200" b="0" i="0">
                <a:solidFill>
                  <a:srgbClr val="475569"/>
                </a:solidFill>
                <a:latin typeface="Calibri"/>
              </a:rPr>
              <a:t>Last-mile support</a:t>
            </a:r>
          </a:p>
        </p:txBody>
      </p:sp>
      <p:sp>
        <p:nvSpPr>
          <p:cNvPr id="14" name="Rounded Rectangle 13"/>
          <p:cNvSpPr/>
          <p:nvPr/>
        </p:nvSpPr>
        <p:spPr>
          <a:xfrm>
            <a:off x="384048" y="2706624"/>
            <a:ext cx="11384280" cy="640080"/>
          </a:xfrm>
          <a:prstGeom prst="roundRect">
            <a:avLst>
              <a:gd name="adj" fmla="val 8000"/>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600" b="1" i="0">
                <a:solidFill>
                  <a:srgbClr val="FFFFFF"/>
                </a:solidFill>
                <a:latin typeface="Calibri"/>
              </a:rPr>
              <a:t>Survey   →   Match   →   Explain   →   Ask   →   Apply   →   Track</a:t>
            </a:r>
          </a:p>
        </p:txBody>
      </p:sp>
      <p:sp>
        <p:nvSpPr>
          <p:cNvPr id="15" name="Rounded Rectangle 14"/>
          <p:cNvSpPr/>
          <p:nvPr/>
        </p:nvSpPr>
        <p:spPr>
          <a:xfrm>
            <a:off x="384048" y="3520440"/>
            <a:ext cx="11384280" cy="246888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800"/>
              </a:spcAft>
            </a:pPr>
            <a:r>
              <a:rPr sz="1200" b="1" i="0">
                <a:solidFill>
                  <a:srgbClr val="C2410C"/>
                </a:solidFill>
                <a:latin typeface="Calibri"/>
              </a:rPr>
              <a:t>8-MINUTE LIVE DEMO  ·  ONE CITIZEN JOURNEY</a:t>
            </a:r>
          </a:p>
          <a:p>
            <a:pPr algn="l">
              <a:spcAft>
                <a:spcPts val="400"/>
              </a:spcAft>
            </a:pPr>
            <a:r>
              <a:rPr sz="1400" b="1" i="0">
                <a:solidFill>
                  <a:srgbClr val="0F2C4C"/>
                </a:solidFill>
                <a:latin typeface="Calibri"/>
              </a:rPr>
              <a:t>1  Profile   ·   2  Matching   ·   3  Why this match   ·   4  AI Advisor</a:t>
            </a:r>
          </a:p>
          <a:p>
            <a:pPr algn="l">
              <a:spcAft>
                <a:spcPts val="1000"/>
              </a:spcAft>
            </a:pPr>
            <a:r>
              <a:rPr sz="1400" b="1" i="0">
                <a:solidFill>
                  <a:srgbClr val="0F2C4C"/>
                </a:solidFill>
                <a:latin typeface="Calibri"/>
              </a:rPr>
              <a:t>5  Language / Voice   ·   6  Official application   ·   7  Kendra Finder   ·   8  Tracker</a:t>
            </a:r>
          </a:p>
          <a:p>
            <a:pPr algn="l">
              <a:spcAft>
                <a:spcPts val="600"/>
              </a:spcAft>
            </a:pPr>
            <a:r>
              <a:rPr sz="1300" b="0" i="0">
                <a:solidFill>
                  <a:srgbClr val="475569"/>
                </a:solidFill>
                <a:latin typeface="Calibri"/>
              </a:rPr>
              <a:t>Do not tour every feature. Tell one story. Then say:</a:t>
            </a:r>
          </a:p>
          <a:p>
            <a:pPr algn="l">
              <a:spcAft>
                <a:spcPts val="0"/>
              </a:spcAft>
            </a:pPr>
            <a:r>
              <a:rPr sz="2000" b="1" i="0">
                <a:solidFill>
                  <a:srgbClr val="0B766C"/>
                </a:solidFill>
                <a:latin typeface="Calibri"/>
              </a:rPr>
              <a:t>“Let’s meet our citizen.”</a:t>
            </a:r>
          </a:p>
        </p:txBody>
      </p:sp>
      <p:sp>
        <p:nvSpPr>
          <p:cNvPr id="16" name="Rectangle 15"/>
          <p:cNvSpPr/>
          <p:nvPr/>
        </p:nvSpPr>
        <p:spPr>
          <a:xfrm>
            <a:off x="0" y="6656832"/>
            <a:ext cx="12191695" cy="20116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900" b="0" i="0">
                <a:solidFill>
                  <a:srgbClr val="FFFFFF"/>
                </a:solidFill>
                <a:latin typeface="Calibri"/>
              </a:rPr>
              <a:t>  SchemeNavigator  ·  Discover. Understand. Apply.                         IBM BoB × 15-min pitch                         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6304"/>
            <a:ext cx="11247120" cy="219456"/>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1100" b="1" i="0">
                <a:solidFill>
                  <a:srgbClr val="0369A1"/>
                </a:solidFill>
                <a:latin typeface="Calibri"/>
              </a:rPr>
              <a:t>FUTURE SCOPE  +  BUSINESS MODEL</a:t>
            </a:r>
          </a:p>
        </p:txBody>
      </p:sp>
      <p:sp>
        <p:nvSpPr>
          <p:cNvPr id="6" name="Rounded Rectangle 5"/>
          <p:cNvSpPr/>
          <p:nvPr/>
        </p:nvSpPr>
        <p:spPr>
          <a:xfrm>
            <a:off x="457200" y="329184"/>
            <a:ext cx="11247120" cy="45720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0"/>
              </a:spcAft>
            </a:pPr>
            <a:r>
              <a:rPr sz="2600" b="1" i="0">
                <a:solidFill>
                  <a:srgbClr val="0F2C4C"/>
                </a:solidFill>
                <a:latin typeface="Calibri"/>
              </a:rPr>
              <a:t>Where SchemeNavigator Goes Next</a:t>
            </a:r>
          </a:p>
        </p:txBody>
      </p:sp>
      <p:sp>
        <p:nvSpPr>
          <p:cNvPr id="7" name="Rounded Rectangle 6"/>
          <p:cNvSpPr/>
          <p:nvPr/>
        </p:nvSpPr>
        <p:spPr>
          <a:xfrm>
            <a:off x="384048" y="914400"/>
            <a:ext cx="5623560" cy="201168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1300" b="1" i="0">
                <a:solidFill>
                  <a:srgbClr val="0D9488"/>
                </a:solidFill>
                <a:latin typeface="Calibri"/>
              </a:rPr>
              <a:t>01  LIVE SCHEME INTELLIGENCE</a:t>
            </a:r>
          </a:p>
          <a:p>
            <a:pPr algn="l">
              <a:spcAft>
                <a:spcPts val="800"/>
              </a:spcAft>
            </a:pPr>
            <a:r>
              <a:rPr sz="1600" b="1" i="0">
                <a:solidFill>
                  <a:srgbClr val="0F2C4C"/>
                </a:solidFill>
                <a:latin typeface="Calibri"/>
              </a:rPr>
              <a:t>From curated → continuously updated</a:t>
            </a:r>
          </a:p>
          <a:p>
            <a:pPr algn="l">
              <a:spcAft>
                <a:spcPts val="0"/>
              </a:spcAft>
            </a:pPr>
            <a:r>
              <a:rPr sz="1300" b="0" i="0">
                <a:solidFill>
                  <a:srgbClr val="475569"/>
                </a:solidFill>
                <a:latin typeface="Calibri"/>
              </a:rPr>
              <a:t>Authoritative ingestion · deadlines · eligibility/document updates · stronger state + central coverage</a:t>
            </a:r>
          </a:p>
        </p:txBody>
      </p:sp>
      <p:sp>
        <p:nvSpPr>
          <p:cNvPr id="8" name="Rectangle 7"/>
          <p:cNvSpPr/>
          <p:nvPr/>
        </p:nvSpPr>
        <p:spPr>
          <a:xfrm>
            <a:off x="384048" y="914400"/>
            <a:ext cx="91440"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6208" y="914400"/>
            <a:ext cx="5623560" cy="201168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1300" b="1" i="0">
                <a:solidFill>
                  <a:srgbClr val="0369A1"/>
                </a:solidFill>
                <a:latin typeface="Calibri"/>
              </a:rPr>
              <a:t>02  OPPORTUNITIES &amp; EVENTS</a:t>
            </a:r>
          </a:p>
          <a:p>
            <a:pPr algn="l">
              <a:spcAft>
                <a:spcPts val="800"/>
              </a:spcAft>
            </a:pPr>
            <a:r>
              <a:rPr sz="1600" b="1" i="0">
                <a:solidFill>
                  <a:srgbClr val="0F2C4C"/>
                </a:solidFill>
                <a:latin typeface="Calibri"/>
              </a:rPr>
              <a:t>Verified government information — not a social feed</a:t>
            </a:r>
          </a:p>
          <a:p>
            <a:pPr algn="l">
              <a:spcAft>
                <a:spcPts val="0"/>
              </a:spcAft>
            </a:pPr>
            <a:r>
              <a:rPr sz="1300" b="0" i="0">
                <a:solidFill>
                  <a:srgbClr val="475569"/>
                </a:solidFill>
                <a:latin typeface="Calibri"/>
              </a:rPr>
              <a:t>Hackathons · competitions · fellowships · scholarships · official workshops · citizen outreach. No private/unverified listings.</a:t>
            </a:r>
          </a:p>
        </p:txBody>
      </p:sp>
      <p:sp>
        <p:nvSpPr>
          <p:cNvPr id="10" name="Rectangle 9"/>
          <p:cNvSpPr/>
          <p:nvPr/>
        </p:nvSpPr>
        <p:spPr>
          <a:xfrm>
            <a:off x="6236208" y="914400"/>
            <a:ext cx="91440" cy="201168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4048" y="3063240"/>
            <a:ext cx="5623560" cy="201168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1300" b="1" i="0">
                <a:solidFill>
                  <a:srgbClr val="6D28D9"/>
                </a:solidFill>
                <a:latin typeface="Calibri"/>
              </a:rPr>
              <a:t>03  LAST-MILE SCALE</a:t>
            </a:r>
          </a:p>
          <a:p>
            <a:pPr algn="l">
              <a:spcAft>
                <a:spcPts val="800"/>
              </a:spcAft>
            </a:pPr>
            <a:r>
              <a:rPr sz="1600" b="1" i="0">
                <a:solidFill>
                  <a:srgbClr val="0F2C4C"/>
                </a:solidFill>
                <a:latin typeface="Calibri"/>
              </a:rPr>
              <a:t>Take SchemeNavigator where citizens already go</a:t>
            </a:r>
          </a:p>
          <a:p>
            <a:pPr algn="l">
              <a:spcAft>
                <a:spcPts val="0"/>
              </a:spcAft>
            </a:pPr>
            <a:r>
              <a:rPr sz="1300" b="0" i="0">
                <a:solidFill>
                  <a:srgbClr val="475569"/>
                </a:solidFill>
                <a:latin typeface="Calibri"/>
              </a:rPr>
              <a:t>CSCs · NGOs · colleges · state missions · community orgs. Future: white-label / API for last-mile organizations.</a:t>
            </a:r>
          </a:p>
        </p:txBody>
      </p:sp>
      <p:sp>
        <p:nvSpPr>
          <p:cNvPr id="12" name="Rectangle 11"/>
          <p:cNvSpPr/>
          <p:nvPr/>
        </p:nvSpPr>
        <p:spPr>
          <a:xfrm>
            <a:off x="384048" y="3063240"/>
            <a:ext cx="91440" cy="2011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36208" y="3063240"/>
            <a:ext cx="5623560" cy="2011680"/>
          </a:xfrm>
          <a:prstGeom prst="roundRect">
            <a:avLst>
              <a:gd name="adj" fmla="val 8000"/>
            </a:avLst>
          </a:prstGeom>
          <a:solidFill>
            <a:srgbClr val="FFFFFF"/>
          </a:solidFill>
          <a:ln w="14604">
            <a:solidFill>
              <a:srgbClr val="E2E8F0"/>
            </a:solidFill>
          </a:ln>
          <a:effectLst>
            <a:outerShdw blurRad="50800" dist="38100" dir="16200000" algn="tl" rotWithShape="0">
              <a:srgbClr val="0F2C4C">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1300" b="1" i="0">
                <a:solidFill>
                  <a:srgbClr val="C2410C"/>
                </a:solidFill>
                <a:latin typeface="Calibri"/>
              </a:rPr>
              <a:t>04  SUSTAINABLE REVENUE</a:t>
            </a:r>
          </a:p>
          <a:p>
            <a:pPr algn="l">
              <a:spcAft>
                <a:spcPts val="800"/>
              </a:spcAft>
            </a:pPr>
            <a:r>
              <a:rPr sz="1600" b="1" i="0">
                <a:solidFill>
                  <a:srgbClr val="0F2C4C"/>
                </a:solidFill>
                <a:latin typeface="Calibri"/>
              </a:rPr>
              <a:t>Citizen access remains free</a:t>
            </a:r>
          </a:p>
          <a:p>
            <a:pPr algn="l">
              <a:spcAft>
                <a:spcPts val="0"/>
              </a:spcAft>
            </a:pPr>
            <a:r>
              <a:rPr sz="1300" b="0" i="0">
                <a:solidFill>
                  <a:srgbClr val="475569"/>
                </a:solidFill>
                <a:latin typeface="Calibri"/>
              </a:rPr>
              <a:t>B2B / white-label · API · CSR / impact deployments · implementation &amp; support. Sponsored info only if labelled, non-influential, never changing ranking.</a:t>
            </a:r>
          </a:p>
        </p:txBody>
      </p:sp>
      <p:sp>
        <p:nvSpPr>
          <p:cNvPr id="14" name="Rectangle 13"/>
          <p:cNvSpPr/>
          <p:nvPr/>
        </p:nvSpPr>
        <p:spPr>
          <a:xfrm>
            <a:off x="6236208" y="3063240"/>
            <a:ext cx="91440" cy="201168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84048" y="5285232"/>
            <a:ext cx="11384280" cy="896112"/>
          </a:xfrm>
          <a:prstGeom prst="roundRect">
            <a:avLst>
              <a:gd name="adj" fmla="val 8000"/>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600" b="1" i="0">
                <a:solidFill>
                  <a:srgbClr val="FFFFFF"/>
                </a:solidFill>
                <a:latin typeface="Calibri"/>
              </a:rPr>
              <a:t>CITIZEN ACCESS REMAINS FREE</a:t>
            </a:r>
          </a:p>
          <a:p>
            <a:pPr algn="ctr">
              <a:spcAft>
                <a:spcPts val="0"/>
              </a:spcAft>
            </a:pPr>
            <a:r>
              <a:rPr sz="1200" b="0" i="0">
                <a:solidFill>
                  <a:srgbClr val="CBD5E1"/>
                </a:solidFill>
                <a:latin typeface="Calibri"/>
              </a:rPr>
              <a:t>Ads are not the model. Trust is. Optional sponsored information must never change scheme ranking or eligibility.</a:t>
            </a:r>
          </a:p>
        </p:txBody>
      </p:sp>
      <p:sp>
        <p:nvSpPr>
          <p:cNvPr id="16" name="Rectangle 15"/>
          <p:cNvSpPr/>
          <p:nvPr/>
        </p:nvSpPr>
        <p:spPr>
          <a:xfrm>
            <a:off x="0" y="6656832"/>
            <a:ext cx="12191695" cy="20116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900" b="0" i="0">
                <a:solidFill>
                  <a:srgbClr val="FFFFFF"/>
                </a:solidFill>
                <a:latin typeface="Calibri"/>
              </a:rPr>
              <a:t>  SchemeNavigator  ·  Discover. Understand. Apply.                         IBM BoB × 15-min pitch                         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554480"/>
            <a:ext cx="10149840" cy="384048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pPr>
            <a:r>
              <a:rPr sz="3200" b="1" i="0">
                <a:solidFill>
                  <a:srgbClr val="0F2C4C"/>
                </a:solidFill>
                <a:latin typeface="Calibri"/>
              </a:rPr>
              <a:t>Schemes are a right.</a:t>
            </a:r>
          </a:p>
          <a:p>
            <a:pPr algn="ctr">
              <a:spcAft>
                <a:spcPts val="2200"/>
              </a:spcAft>
            </a:pPr>
            <a:r>
              <a:rPr sz="3200" b="1" i="0">
                <a:solidFill>
                  <a:srgbClr val="0B766C"/>
                </a:solidFill>
                <a:latin typeface="Calibri"/>
              </a:rPr>
              <a:t>Finding them should not be a skill.</a:t>
            </a:r>
          </a:p>
          <a:p>
            <a:pPr algn="ctr">
              <a:spcAft>
                <a:spcPts val="600"/>
              </a:spcAft>
            </a:pPr>
            <a:r>
              <a:rPr sz="2200" b="1" i="0">
                <a:solidFill>
                  <a:srgbClr val="0F2C4C"/>
                </a:solidFill>
                <a:latin typeface="Calibri"/>
              </a:rPr>
              <a:t>SchemeNavigator</a:t>
            </a:r>
          </a:p>
          <a:p>
            <a:pPr algn="ctr">
              <a:spcAft>
                <a:spcPts val="1800"/>
              </a:spcAft>
            </a:pPr>
            <a:r>
              <a:rPr sz="1800" b="0" i="1">
                <a:solidFill>
                  <a:srgbClr val="0D9488"/>
                </a:solidFill>
                <a:latin typeface="Calibri"/>
              </a:rPr>
              <a:t>Discover. Understand. Apply.</a:t>
            </a:r>
          </a:p>
          <a:p>
            <a:pPr algn="ctr">
              <a:spcAft>
                <a:spcPts val="0"/>
              </a:spcAft>
            </a:pPr>
            <a:r>
              <a:rPr sz="2000" b="1" i="0">
                <a:solidFill>
                  <a:srgbClr val="1E293B"/>
                </a:solidFill>
                <a:latin typeface="Calibri"/>
              </a:rPr>
              <a:t>Thank You.</a:t>
            </a:r>
          </a:p>
        </p:txBody>
      </p:sp>
      <p:sp>
        <p:nvSpPr>
          <p:cNvPr id="6" name="Rectangle 5"/>
          <p:cNvSpPr/>
          <p:nvPr/>
        </p:nvSpPr>
        <p:spPr>
          <a:xfrm>
            <a:off x="0" y="6656832"/>
            <a:ext cx="12191695" cy="20116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900" b="0" i="0">
                <a:solidFill>
                  <a:srgbClr val="FFFFFF"/>
                </a:solidFill>
                <a:latin typeface="Calibri"/>
              </a:rPr>
              <a:t>  SchemeNavigator  ·  Discover. Understand. Apply.                         IBM BoB × 15-min pitch                         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